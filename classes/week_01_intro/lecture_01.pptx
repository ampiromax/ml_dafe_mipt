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Представиться. Сказать, где работаю и чем занимаюсь: данные для мультимодального ассистента. Курс построен на задачах, которые я решаю на работе, поэтому домашки будут похожи на настоящие.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суббота это две пары: семинар и лабораторная. Лекции смотрите дома, в аудитории только руки. Четвертая часть, про устройство ML-проекта и MLOps, стоит последней намеренно: если поедем по времени, она уйдет во второй семестр. Работа с данными не отдельная тема, она проходит через весь курс, и на ней построены все домашки.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Ключевое: вместе с оценкой приходит отчет, где написано, какие проверки упали и с каким сообщением. Не согласны с проверкой — приходите с отчетом, разберем. Не успели на паре — дорешиваете дома и присылаете до следующего занятия, это нормально и не наказывается.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работа: сырой дамп превратить в пригодный датасет. Вторая: разложить данные по темам и собрать честный тест. Третья: разобраться, можно ли верить разметке. Это три слоя того, чем занимается моя команда: достать, разложить, измерить.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 совместную работу: команда до трех человек, состав объявляется заранее, защищаетесь вместе и каждый отвечает по всей работе, в отчете написано кто что делал, оценка одна на команду. Отдельно сказать: если вы уже участвуете в соревнованиях, работаете или ведете свой проект по теме — приходите до дедлайна, зачтем это вместо домашки. Требование не к формату, а к содержанию.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Одно жесткое условие: если не сдана ни одна домашняя работа, курс не сдан, и на зачет можно не приходить. Домашки и есть курс, устный ответ только проверяет, что вы понимаете, что делали. Лабораторные: каждый ноутбук от нуля до десяти, оценка за блок это среднее по всем четырнадцати. Посещаемость на оценку не влияет, но я ее веду и я вас запомню.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Провести опрос руками. От ответов зависит темп первых занятий. Отдельно записать, у кого Windows и у кого слабое железо: им понадобится помощь с окружением, а во втором семестре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именно miniconda, а не системный питон: через месяц половина проблем на паре будет из-за конфликтов версий. Про Windows: WSL ставится одной командой из PowerShell с правами администратора, дальше это обычный Ubuntu. Во втором семестре, когда пойдут видеокарты, разница станет заметнее. Все, что нужно в первом семестре, считается на любом ноутбуке за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пересказывать каждый пункт. Главное: PyTorch и Hugging Face это то, где живет современный ML. Аккаунт на Hugging Face понадобится со второго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Объяснить механику: сначала препринт на arXiv, потом подача на конференцию, рецензирование, доклад. Именно конференции, а не журналы, здесь главное место публикации, и это отличает наше поле от физики.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Рост почти в четыреста раз за двадцать лет: с двухсот семидесяти работ до ста семи тысяч. Две мысли отсюда. Первая: прочитать все невозможно и не нужно, нужно уметь выбирать и быстро отбрасывать. Вторая: знания устаревают быстро, учиться придется всю карьеру, а не один семестр.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зачитывать, названия кликабельны. Сказать: полный список с рабочими ссылками лежит в репозитории, файл docs/resources.md, там восемьдесят проверенных ссылок. Из этого слайда важнее всего левая колонка: без теории вероятностей нельзя понять, что означает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Learning School это свой, физтеховский курс, бесплатный и с домашками на код: начинать лучше с него. Курс Войты объясняет внимание лучше всех. Про мультимодальность честно: систематического курса в мире пока не существует, ближе всего курс CMU, дальше только обзорные статьи. Третья колонка это то, чему не учат в университете, а на работе спрашивают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Совет: начать с LM Studio, если не хочется в терминал, или с Ollama, если хочется сразу API для своего кода. Обе работают без видеокарты. Полезно попробовать: становится понятно, что модель это файл с числами, а не магия из облака.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Качество определяется тем, какие признаки придумал инженер. В зрении это SIFT и HOG, рукописные детекторы углов и градиентов, была отдельная профессия. Сказать: ровно эти методы мы и проходим в первом семестре, и они не устарели — на табличных данных бустинг до сих пор обыгрывает нейросети.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Разложить десятилетие на три волны. Первая, зрение: AlexNet, VGG, ResNet — сети становятся глубже и точнее. Вторая, обучение с подкреплением: игры Atari, AlphaGo, AlphaZero, тогда казалось, что будущее за агентами. Третья, внимание: word2vec, seq2seq, трансформер, BERT. Каждая волна закрывала узкое место предыдущей и открывала новое.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уместно рассказать про свою работу: почему сейчас самое сложное это не обучить модель, а честно измерить ее качество. Узкое место сместилось снова, и теперь это данные и оценка. Восемьдесят процентов времени проекта уходит на данные, а не на модель — именно поэтому три домашки в курсе про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минут перерыва.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Пройтись по веткам. В обучении с учителем даны пары объект и ответ, учим условное распределение ответа. Без учителя даны только объекты, учим их распределение. В обучении с подкреплением данные агент собирает сам, учим стратегию. Первый семестр это левая ветка плюс кластеризация и снижение размерности из средней.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Ввести словарь, которым будем пользоваться весь семестр: обучающая выборка, признаки, отклик. Модель обучается на выборке, а затем применяется к новым примерам. Главное не объяснить обучающие точки, а хорошо обобщиться на новые. Перед подачей данных обычно идет предобработка: из входа стараются выделить самые содержательные аспекты, это называется извлечением признаков.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Ключевое обозначение курса, оно будет встречаться до декабря. Икс с завитком это множество всех возможных объектов, игрек с завитком — множество допустимых ответов. Для наших вин объект это тринадцать чисел, а ответ это один из трех сортов. Вторая строка появится позже, когда дойдем до Байеса: если модель умеет оценивать вероятность каждого класса, то ответом естественно объявить тот класс, у которого вероятность наибольшая. Именно это и означает arg max: не само значение максимума, а аргумент, на котором он достигается, то есть номер класса. У kNN, к которому перейдем через полчаса, вероятностей нет, и там a(x) устроена иначе: голосование соседей. Разные методы по-разному строят одну и ту же функцию.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Отсюда вопрос: обычно нам дают просто обучающую выборку, как тогда проверить обобщение? Ответ: отложить часть данных. Разбиваем выборку на обучающую и валидационную, а лучше делаем кросс-валидацию, повторяя разбиение несколько раз. Отдельное занятие про это будет четвертым, и там же разберем, как незаметно испортить себе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Классификация: классификация текстов по темам, спам-фильтр, распознавание лиц, объектов и текста. Регрессия: предсказать температуру, положение робота, цену акций. Если добавить изменение во времени, получится, например, распознавание речи. Сегодняшние два метода это классификация.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Кластеризация: разбить данные на заранее неизвестные группы по мере похожести. Выделить семейства генов, кластеризовать пользователей и персонализовать приложение под них. Снижение размерности: признаков очень много, надо оставить самые информативные, чтобы остальные алгоритмы вообще смогли работать. Сюда же дополнение матриц: дана разреженная матрица, надо предсказать, что на пустых местах — так работают рекомендации. Если ответы даны для небольшой части данных, это обучение с частичным привлечением учителя.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сюжета, которые стоит назвать. Многорукие бандиты: есть набор действий, каждое дает случайный результат, надо получить как можно больший доход. Исследование против использования: когда переходить от проб нового к эксплуатации того, что уже изучил. И назначение заслуги: награда приходит в самом конце, например за выигранную партию, и надо как-то распределить ее по всем ходам, которые к победе привели.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Бустинг будет седьмым занятием, выбор модели четвертым. Ранжирование и активное обучение в курс не влезли, но знать, что они есть, полезно: обе задачи очень частые в индустрии.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Подводка. Мы поговорили про то, какие бывают задачи. Теперь нужен первый работающий метод, и начать логично с самого простого из возможных. Идея kNN настолько проста, что ее придумали до появления компьютеров в современном смысле: Фикс и Ходжес в 1951 году, а исследовали Ковер и Харт в 1967. При этом метод жив: на нем стоят поиск похожих товаров, векторные базы данных, поиск дубликатов и обнаружение аномалий.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Проговорить постановку: объект это одно вино, признаки это тринадцать чисел из лаборатории, ответ это номер сорта. Все числа, которые прозвучат дальше, посчитаны на этих данных: модель учится на 124 винах и проверяется на 54, которых не видела. Датасет маленький и удобный именно для того, чтобы разбираться в механике, а не ждать вычислений.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Проговорить механику: обучения нет вообще, модель просто хранит выборку, вся работа происходит при предсказании. Такие методы называют ленивыми, и это ровно противоположно тому, как устроен наивный Байес, к которому придем через полчаса. Главный вопрос аудитории по картинке: какой из двух ответов правильный? Правильного нет, есть k, которое надо подобрать по данным.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 на последний пункт: из него через три слайда вырастет главная проблема метода. Бывают и другие метрики, манхэттенская и косинусная, их разберем на лабораторной.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какая из трех картинок нравится больше. Обычно выбирают среднюю. Дальше показать, что интуиция здесь совпала с числами, но так бывает не всегда.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Расхождение между серой и синей кривой это и есть переобучение, увиденное глазами. Сказать, что подбирать k по тесту нечестно: правильный способ будет на четвертом занятии.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Задать аудитории вопрос: если мы будем искать похожие квартиры по евклидову расстоянию, что произойдет? Дать подумать полминуты. Обратить внимание на единицы измерения: миллионы, метры квадратные, просто метры и номер этажа.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Вернуться к формуле расстояния. Разность в тысячу метров дает вклад в миллион, разность в два миллиона рублей дает четыре. Три признака из четырех не участвуют в расчете вообще. Модель ищет не похожие квартиры, а квартиры на том же расстоянии от метро.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пункт важнее остальных. В семинарском ноутбуке есть проверка, которая ловит именно эту ошибку: если обучить преобразование на тесте, среднее теста окажется нулевым, и проверка упадет.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модель действительно ищет похожие квартиры: близкие по цене, площади, расположению и этажу одновременно.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уже не квартиры, а датасет про вино с семинара. Тринадцать признаков, три класса. Одна строка кода дала больше, чем дал бы любой подбор гиперпараметров. Мораль на весь курс: когда качество не устраивает, сначала смотрят на данные, а не на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проклятие размерности: тринадцать настоящих признаков тонут среди восьмисот случайных, и расстояние перестает нести смысл. На лабораторной студенты воспроизведут этот график сами. И это хороший мостик: посмотрим на метод, который так не ломается, и разберемся, почему.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метода: идея восходит к пятидесятым, а известность он получил в конце девяностых как основа первых работающих спам-фильтров. Сегодня его используют как быструю базовую линию в классификации текстов и как компонент там, где важна скорость: он обучается за один проход по данным.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Пройти по блокам сверху вниз. Совместная вероятность и маргинализация: суммируя по одной переменной, избавляемся от нее. Условная вероятность и то, что совместную можно разложить двумя способами. Приравняв два разложения, за один шаг получаем теорему Байеса. И независимость, которая понадобится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Отдельно и подробно про знаменатель, это важно. P(x) — это маргинальное распределение наблюдаемых признаков: совместное распределение, просуммированное по всем классам. По сути это распределение самих данных, и оценить его труднее всего: оно многомерное и никакой структуры нам не дано. Но при сравнении гипотез между собой оно играет роль нормировочной константы, одной и той же для всех классов. В задаче поиска максимума константа на результат не влияет, поэтому знаменатель опускают. Мы не научились его считать — мы обошли необходимость его считать.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место, где студенты обычно теряются, поэтому проговорить медленно. Теорема Байеса считает вероятность для каждого класса отдельно: для сорта ноль, для сорта один, для сорта два. Получаются три числа. Но модель должна выдать один ответ, а не три числа, значит нужно правило выбора. Правило самое естественное: назвать тот класс, чья вероятность больше. Формально это arg max, и вот здесь наша функция a(x) из начала лекции наконец получает конкретный вид. Дальше маленькая хитрость. У всех трех чисел знаменатель одинаковый, это P(x). Деление на одно и то же число порядок чисел не меняет: кто был больше, тот больше и остался. Значит знаменатель можно выбросить и сравнивать числители. Это важно, потому что именно знаменатель было бы труднее всего посчитать.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Предположение почти всегда неверно: в вине содержание флавоноидов и общее содержание фенолов очевидно связаны. Метод все равно работает, и это одна из приятных странностей машинного обучения. Причина в том, что для выбора класса нужны не точные вероятности, а правильный порядок между 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это предположение, а не факт. На следующих слайдах видно, насколько оно грубое и почему этого хватает.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Сравнить с kNN, который хранит всю выборку целиком и пересчитывает расстояния при каждом предсказании. Отсюда и устойчивость к лишним признакам: шумовой признак дает почти одинаковую плотность во всех классах и просто не влияет на сравнение.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 одну панель целиком, прежде чем говорить про три. Возьмем proline. Метод посмотрел на все обучающие вина сорта ноль, посчитал среднее и разброс их proline и нарисовал по этим двум числам нормальную кривую. То же для сорта один и для сорта два. Получилось три кривые на одной панели. Так же он поступил с каждым из тринадцати признаков. Теперь предсказание. Приходит новое вино, у него известен proline. Смотрим, какая из трех кривых в этой точке выше: тот сорт и вероятнее по этому признаку. Повторяем для всех тринадцати признаков, перемножаем и добавляем априорную долю сорта. Побеждает сорт с наибольшим произведением. Обратить внимание: по proline сорта разделяются хорошо, кривые почти не пересекаются, а по color_intensity хуже. Признаки не равны по полезности, и метод учитывает это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 на числа в подписях. Спросить, какая граница лучше. Ответ: смотря какие данные. Если предположение о нормальности близко к правде, гладкая выигрывает и требует меньше данных. Если нет, проигрывает.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Сложнее не значит точнее. На сегодняшнем семинаре наивный Байес обыграет kNN на этих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Читать таблицу сверху вниз. Первая строка это точка отсчета: модель, которая всегда отвечает самым частым сортом, угадывает в 39 процентах случаев на тесте. Все, что не обыгрывает эту строку, не имеет права на существование. Вторая и третья: одна строка со стандартизацией поднимает kNN с 0.72 до 0.94. Четвертая строка выделена намеренно: при k=1 на обучающей выборке ровно единица, потому что ближайший сосед объекта это он сам. На тесте при этом хуже, чем у k=5. Вот так переобучение выглядит в числах. Пятая: наивный Байес не ошибся на тесте ни разу, и это повод не радоваться, а насторожиться — в тесте всего 54 объекта.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Слева: при соотношении один к тысяче модель, которая всегда отвечает «нет», наберет 99.9 процента. Справа то же самое на медицинском примере: модель с accuracy 98.5 процента не нашла ни одного больного. Наши вина сбалансированы, поэтому там accuracy честна. В реальных задачах она сбалансирована почти никогда: мошеннические транзакции, поломки оборудования, редкие заболевания — везде интересный класс редкий.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это сумма диагонали, деленная на все. Она склеивает две принципиально разные ошибки в одно число, а цена у них разная. В медицинской диагностике пропуск страшнее ложной тревоги. В спам-фильтре наоборот: письмо от начальника в папке со спамом хуже, чем реклама во входящих.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Обе метрики смотрят только на нужный класс, поэтому редкость класса их не обманывает. Модель «все здоровы» из предыдущего слайда имеет recall ноль, и это сразу видно. Первая пара метрик курса, дальше их будет много. Главная мысль на весь семестр: метрику выбирает тот, кто понимает цену ошибки, а не тот, кто пишет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ссылка обязательна: следующее занятие целиком про линейные модели, и без нее будет тяжело. Вторая по желанию, это тот же материал, что был сегодня, но другими словами — полезно, если что-то не улеглось.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playlist?list=PLthfp5exSWEqYroMZVPIOPd5Dz3ARAXzN" TargetMode="External"/><Relationship Id="rId3" Type="http://schemas.openxmlformats.org/officeDocument/2006/relationships/hyperlink" Target="https://stepik.org/course/76" TargetMode="External"/><Relationship Id="rId4" Type="http://schemas.openxmlformats.org/officeDocument/2006/relationships/hyperlink" Target="https://education.yandex.ru/handbook/math" TargetMode="External"/><Relationship Id="rId5" Type="http://schemas.openxmlformats.org/officeDocument/2006/relationships/hyperlink" Target="https://www.youtube.com/playlist?list=PLEqoHzpnmTfCiJpMPccTWXD9DB4ERQkyw" TargetMode="External"/><Relationship Id="rId6" Type="http://schemas.openxmlformats.org/officeDocument/2006/relationships/hyperlink" Target="https://education.yandex.ru/handbook/ml" TargetMode="External"/><Relationship Id="rId7" Type="http://schemas.openxmlformats.org/officeDocument/2006/relationships/hyperlink" Target="https://github.com/esokolov/ml-course-hse" TargetMode="External"/><Relationship Id="rId8" Type="http://schemas.openxmlformats.org/officeDocument/2006/relationships/hyperlink" Target="https://cs229.stanford.edu/" TargetMode="External"/><Relationship Id="rId9" Type="http://schemas.openxmlformats.org/officeDocument/2006/relationships/hyperlink" Target="https://www.youtube.com/playlist?list=PLDcUM9US4XdNOlqSyhe38US8mFgmqzI14" TargetMode="External"/><Relationship Id="rId10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ls.samcs.ru" TargetMode="External"/><Relationship Id="rId3" Type="http://schemas.openxmlformats.org/officeDocument/2006/relationships/hyperlink" Target="https://dlcourse.ai/" TargetMode="External"/><Relationship Id="rId4" Type="http://schemas.openxmlformats.org/officeDocument/2006/relationships/hyperlink" Target="https://cs231n.stanford.edu/" TargetMode="External"/><Relationship Id="rId5" Type="http://schemas.openxmlformats.org/officeDocument/2006/relationships/hyperlink" Target="https://www.youtube.com/playlist?list=PLAqhIrjkxbuWI23v9cThsA9GvCAUhRvKZ" TargetMode="External"/><Relationship Id="rId6" Type="http://schemas.openxmlformats.org/officeDocument/2006/relationships/hyperlink" Target="https://lena-voita.github.io/nlp_course.html" TargetMode="External"/><Relationship Id="rId7" Type="http://schemas.openxmlformats.org/officeDocument/2006/relationships/hyperlink" Target="https://github.com/yandexdataschool/speech_course" TargetMode="External"/><Relationship Id="rId8" Type="http://schemas.openxmlformats.org/officeDocument/2006/relationships/hyperlink" Target="https://www.youtube.com/playlist?list=PL0Ks75aof3TgnQ_q1AmIClOeX6c-F_Kw0" TargetMode="External"/><Relationship Id="rId9" Type="http://schemas.openxmlformats.org/officeDocument/2006/relationships/hyperlink" Target="https://www.youtube.com/playlist?list=PLdGKJ8Bg_69xRZspmMOMmHDAf1nendPtA" TargetMode="External"/><Relationship Id="rId10" Type="http://schemas.openxmlformats.org/officeDocument/2006/relationships/hyperlink" Target="https://github.com/DataTalksClub/mlops-zoomcamp" TargetMode="External"/><Relationship Id="rId11" Type="http://schemas.openxmlformats.org/officeDocument/2006/relationships/hyperlink" Target="https://madewithml.com/courses/mlops/" TargetMode="External"/><Relationship Id="rId12" Type="http://schemas.openxmlformats.org/officeDocument/2006/relationships/hyperlink" Target="https://stanford-cs329s.github.io/" TargetMode="External"/><Relationship Id="rId1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GKIkGc2bnmU&amp;list=PL4_hYwCyhAvZyW6qS58x4uElZgAkMVUvj&amp;index=2" TargetMode="External"/><Relationship Id="rId4" Type="http://schemas.openxmlformats.org/officeDocument/2006/relationships/hyperlink" Target="https://www.youtube.com/watch?v=8s9073kNXgY&amp;list=PL4_hYwCyhAvZyW6qS58x4uElZgAkMVUvj&amp;index=1" TargetMode="External"/><Relationship Id="rId5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96012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9456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400" b="1">
                <a:solidFill>
                  <a:srgbClr val="FFFFFF"/>
                </a:solidFill>
                <a:latin typeface="Arial"/>
              </a:rPr>
              <a:t>Машинное 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200" b="0">
                <a:solidFill>
                  <a:srgbClr val="4DA3E0"/>
                </a:solidFill>
                <a:latin typeface="Arial"/>
              </a:rPr>
              <a:t>Занятие 1. Как все будет устроено и с чего начинается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6B7280"/>
                </a:solidFill>
                <a:latin typeface="Arial"/>
              </a:rPr>
              <a:t>ФАЛТ МФТИ · осенний семестр 2026/27 · Патрацкий Максим</a:t>
            </a:r>
          </a:p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6B7280"/>
                </a:solidFill>
                <a:latin typeface="Arial"/>
              </a:rPr>
              <a:t>t.me/mldafemipt</a:t>
            </a:r>
          </a:p>
        </p:txBody>
      </p:sp>
      <p:pic>
        <p:nvPicPr>
          <p:cNvPr id="8" name="Picture 7" descr="telegram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895" y="3246120"/>
            <a:ext cx="1691640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4135" y="510235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FFFFFF"/>
                </a:solidFill>
                <a:latin typeface="Arial"/>
              </a:rPr>
              <a:t>@mldafemipt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4135" y="54406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чат курса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Из чего состоит семестр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ur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32110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Лабораторные и как они проверяются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2722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Домашние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mework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28850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878403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Три работы за семестр, на каждую четыре недели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Жесткий дедлайн предыдущей совпадает с днем выдачи следующей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И РАБОТАТЬ МОЖНО ВМЕСТЕ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Как делать и как сдавать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po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005" y="2103120"/>
            <a:ext cx="8801684" cy="3346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0585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Оформление любое, на ваше усмотрение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Защита устная, во время лабораторных занятий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Оценивание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din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767" y="1737360"/>
            <a:ext cx="8436161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Итог округляется до целого, порог сдачи четыре балла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Свой проект или хакатон по теме можно зачесть вместо домашки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Вопросы о вашем опыте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240"/>
              <a:buFont typeface="Arial"/>
              <a:buChar char="▪"/>
            </a:pPr>
            <a:r>
              <a:rPr sz="2000">
                <a:solidFill>
                  <a:srgbClr val="0F1418"/>
                </a:solidFill>
                <a:latin typeface="Arial"/>
              </a:rPr>
              <a:t>Какая у вас система и сколько оперативной памяти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240"/>
              <a:buFont typeface="Arial"/>
              <a:buChar char="▪"/>
            </a:pPr>
            <a:r>
              <a:rPr sz="2000">
                <a:solidFill>
                  <a:srgbClr val="0F1418"/>
                </a:solidFill>
                <a:latin typeface="Arial"/>
              </a:rPr>
              <a:t>Кто писал на питоне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240"/>
              <a:buFont typeface="Arial"/>
              <a:buChar char="▪"/>
            </a:pPr>
            <a:r>
              <a:rPr sz="2000">
                <a:solidFill>
                  <a:srgbClr val="0F1418"/>
                </a:solidFill>
                <a:latin typeface="Arial"/>
              </a:rPr>
              <a:t>Кто видел numpy и pandas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240"/>
              <a:buFont typeface="Arial"/>
              <a:buChar char="▪"/>
            </a:pPr>
            <a:r>
              <a:rPr sz="2000">
                <a:solidFill>
                  <a:srgbClr val="0F1418"/>
                </a:solidFill>
                <a:latin typeface="Arial"/>
              </a:rPr>
              <a:t>Кто уже что-то делал по машинному обучению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240"/>
              <a:buFont typeface="Arial"/>
              <a:buChar char="▪"/>
            </a:pPr>
            <a:r>
              <a:rPr sz="2000">
                <a:solidFill>
                  <a:srgbClr val="0F1418"/>
                </a:solidFill>
                <a:latin typeface="Arial"/>
              </a:rPr>
              <a:t>У кого есть аккаунт на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ЧТО ПОСТАВИТЬ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Окружение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10545775" cy="35096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4480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Что нужно знать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карта поля: инструменты, статьи, курсы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Чем обучают модели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yto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737360"/>
            <a:ext cx="2179243" cy="540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на нем пишут почти все</a:t>
            </a:r>
          </a:p>
        </p:txBody>
      </p:sp>
      <p:pic>
        <p:nvPicPr>
          <p:cNvPr id="8" name="Picture 7" descr="hugging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03" y="1737360"/>
            <a:ext cx="2179243" cy="5796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59403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Hugging 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4267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модели и датасеты</a:t>
            </a:r>
          </a:p>
        </p:txBody>
      </p:sp>
      <p:pic>
        <p:nvPicPr>
          <p:cNvPr id="11" name="Picture 10" descr="scikit-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905" y="1737360"/>
            <a:ext cx="868325" cy="6720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5846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scikit-learn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0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весь первый семестр</a:t>
            </a:r>
          </a:p>
        </p:txBody>
      </p:sp>
      <p:pic>
        <p:nvPicPr>
          <p:cNvPr id="14" name="Picture 13" descr="jupy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819" y="1737360"/>
            <a:ext cx="579382" cy="6720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32289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Jupyter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153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наши ноутбуки</a:t>
            </a:r>
          </a:p>
        </p:txBody>
      </p:sp>
      <p:pic>
        <p:nvPicPr>
          <p:cNvPr id="17" name="Picture 16" descr="deepspe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919" y="3337560"/>
            <a:ext cx="1802524" cy="6720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DeepSpeed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модель не влезла в карту</a:t>
            </a:r>
          </a:p>
        </p:txBody>
      </p:sp>
      <p:pic>
        <p:nvPicPr>
          <p:cNvPr id="20" name="Picture 19" descr="r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0567" y="3337560"/>
            <a:ext cx="2154115" cy="6720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59403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4267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распределенные вычисления</a:t>
            </a:r>
          </a:p>
        </p:txBody>
      </p:sp>
      <p:pic>
        <p:nvPicPr>
          <p:cNvPr id="23" name="Picture 22" descr="wan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6" y="3337560"/>
            <a:ext cx="2179243" cy="5074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5846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Weights &amp; Biases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0710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журнал экспериментов</a:t>
            </a:r>
          </a:p>
        </p:txBody>
      </p:sp>
      <p:pic>
        <p:nvPicPr>
          <p:cNvPr id="26" name="Picture 25" descr="do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0889" y="3337560"/>
            <a:ext cx="2179243" cy="51865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32289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153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одинаковое окружение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Где читают и публикуют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x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21" y="1737360"/>
            <a:ext cx="1493520" cy="6720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arXiv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препринты статей</a:t>
            </a:r>
          </a:p>
        </p:txBody>
      </p:sp>
      <p:pic>
        <p:nvPicPr>
          <p:cNvPr id="8" name="Picture 7" descr="neur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486" y="1737360"/>
            <a:ext cx="1498276" cy="6720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59403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NeurIPS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4267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самая широкая по ML</a:t>
            </a:r>
          </a:p>
        </p:txBody>
      </p:sp>
      <p:pic>
        <p:nvPicPr>
          <p:cNvPr id="11" name="Picture 10" descr="ic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045" y="1737360"/>
            <a:ext cx="1944044" cy="6720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5846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ICML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0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методы и теория</a:t>
            </a:r>
          </a:p>
        </p:txBody>
      </p:sp>
      <p:pic>
        <p:nvPicPr>
          <p:cNvPr id="14" name="Picture 13" descr="icl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889" y="1737360"/>
            <a:ext cx="2179243" cy="6537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32289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ICLR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153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обучение представлений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337560"/>
            <a:ext cx="2362123" cy="672084"/>
          </a:xfrm>
          <a:prstGeom prst="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54730"/>
            <a:ext cx="2362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072CE"/>
                </a:solidFill>
                <a:latin typeface="Arial"/>
              </a:rPr>
              <a:t>CVPR / ICCV / ECCV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CVPR / ICCV / ECCV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компьютерное зрение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96563" y="3337560"/>
            <a:ext cx="2362123" cy="672084"/>
          </a:xfrm>
          <a:prstGeom prst="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6563" y="3554730"/>
            <a:ext cx="2362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072CE"/>
                </a:solidFill>
                <a:latin typeface="Arial"/>
              </a:rPr>
              <a:t>ACL / EMNLP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ACL / EMNLP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4267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обработка языка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6" y="3337560"/>
            <a:ext cx="2362123" cy="672084"/>
          </a:xfrm>
          <a:prstGeom prst="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3006" y="3554730"/>
            <a:ext cx="2362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072CE"/>
                </a:solidFill>
                <a:latin typeface="Arial"/>
              </a:rPr>
              <a:t>AAAI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6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AAAI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0710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искусственный интеллект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449" y="3337560"/>
            <a:ext cx="2362123" cy="672084"/>
          </a:xfrm>
          <a:prstGeom prst="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449" y="3554730"/>
            <a:ext cx="2362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072CE"/>
                </a:solidFill>
                <a:latin typeface="Arial"/>
              </a:rPr>
              <a:t>Papers with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289" y="41193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Papers with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153" y="43936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статьи вместе с кодом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Сколько статей выходит по теме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xiv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723" y="1737360"/>
            <a:ext cx="7724249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Разделы по искусственному интеллекту и машинному обучению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Данные arXiv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ПРОГРАММА НА НЕСКОЛЬКО ЛЕТ, НЕ НА СЕМЕСТР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изучить: фундамент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998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0072CE"/>
                </a:solidFill>
                <a:latin typeface="Arial"/>
              </a:rPr>
              <a:t>Математика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004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2"/>
              </a:rPr>
              <a:t>Теория вероятностей, МФТИ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1693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Райгородский, 13 лекций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3"/>
              </a:rPr>
              <a:t>Основы статистики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5701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Карпов, Stepik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020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4"/>
              </a:rPr>
              <a:t>Математика для анализа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9709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учебник Яндекса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5"/>
              </a:rPr>
              <a:t>Байесовские методы в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3717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Ветров, ВШЭ, 12 лекций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2103120"/>
            <a:ext cx="4998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0072CE"/>
                </a:solidFill>
                <a:latin typeface="Arial"/>
              </a:rPr>
              <a:t>Машинное 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67004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6"/>
              </a:rPr>
              <a:t>Учебник ШАД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91693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education.yandex.ru/handbook/ml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331012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7"/>
              </a:rPr>
              <a:t>Курс Соколова, ВШЭ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55701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конспекты и домашки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95020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8"/>
              </a:rPr>
              <a:t>Stanford CS229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19709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классика, на английском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590288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9"/>
              </a:rPr>
              <a:t>Statistical Rethinking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4837176"/>
            <a:ext cx="4998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McElreath, 20 лекций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изучить: глубокое обучение и инженерия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0072CE"/>
                </a:solidFill>
                <a:latin typeface="Arial"/>
              </a:rPr>
              <a:t>Нейросети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2"/>
              </a:rPr>
              <a:t>Deep Learning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5117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МФТИ, свой курс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4436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3"/>
              </a:rPr>
              <a:t>Deep learning на пальцах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9125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Козлов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8444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4"/>
              </a:rPr>
              <a:t>Stanford CS231n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3133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зрение, версия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2452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5"/>
              </a:rPr>
              <a:t>Zero to Hero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7141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Karpathy, 10 видео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173736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0072CE"/>
                </a:solidFill>
                <a:latin typeface="Arial"/>
              </a:rPr>
              <a:t>Язык, звук, мультимодальность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30428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6"/>
              </a:rPr>
              <a:t>NLP Course For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55117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Войта, лучший про внимание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294436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7"/>
              </a:rPr>
              <a:t>Speech course, ШАД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319125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до диалоговых моделей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358444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8"/>
              </a:rPr>
              <a:t>Трек Speech, DLS МФТИ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098" y="383133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26 видео, есть аудио и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1098" y="422452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9"/>
              </a:rPr>
              <a:t>CMU 11-777, Multimodal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47141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18 лекций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9236" y="173736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0072CE"/>
                </a:solidFill>
                <a:latin typeface="Arial"/>
              </a:rPr>
              <a:t>Инженерия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9236" y="230428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10"/>
              </a:rPr>
              <a:t>MLOps Zoomcamp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9236" y="255117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от эксперимента до деплоя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9236" y="294436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11"/>
              </a:rPr>
              <a:t>Made With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9236" y="319125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тесты, CI, оркестрация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9236" y="3584448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u="sng">
                <a:solidFill>
                  <a:srgbClr val="0072CE"/>
                </a:solidFill>
                <a:latin typeface="Arial"/>
                <a:hlinkClick r:id="rId12"/>
              </a:rPr>
              <a:t>CS329S, ML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9236" y="3831336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проектирование систем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Запустить языковую модель у себя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ll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589" y="1737360"/>
            <a:ext cx="475184" cy="6720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две команды в терминале</a:t>
            </a:r>
          </a:p>
        </p:txBody>
      </p:sp>
      <p:pic>
        <p:nvPicPr>
          <p:cNvPr id="8" name="Picture 7" descr="lmst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582" y="1737360"/>
            <a:ext cx="672084" cy="6720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59403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LM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4267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без терминала, есть окно</a:t>
            </a:r>
          </a:p>
        </p:txBody>
      </p:sp>
      <p:pic>
        <p:nvPicPr>
          <p:cNvPr id="11" name="Picture 10" descr="llamac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3" y="1737360"/>
            <a:ext cx="2024349" cy="6720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5846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llama.cpp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0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движок под капотом</a:t>
            </a:r>
          </a:p>
        </p:txBody>
      </p:sp>
      <p:pic>
        <p:nvPicPr>
          <p:cNvPr id="14" name="Picture 13" descr="vl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889" y="1737360"/>
            <a:ext cx="2179243" cy="6232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32289" y="2519172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0F1418"/>
                </a:solidFill>
                <a:latin typeface="Arial"/>
              </a:rPr>
              <a:t>vLLM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153" y="2793492"/>
            <a:ext cx="25267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000" b="0">
                <a:solidFill>
                  <a:srgbClr val="6B7280"/>
                </a:solidFill>
                <a:latin typeface="Arial"/>
              </a:rPr>
              <a:t>для сервера с картой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4480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Как мы сюда пришли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двадцать пять лет за пятнадцать минут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2000-е: признаки конструируют вручную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meline_200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46" y="1737360"/>
            <a:ext cx="8109803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Правят SVM, случайный лес и градиентный бустинг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Нейросети считаются тупиковой ветвью: данных и вычислений не хватает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2010-е: признаки выучиваются сами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meline_201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46" y="1737360"/>
            <a:ext cx="8109803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Сменился не алгоритм, а масштаб данных и вычислений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AlexNet это идеи восьмидесятых плюс видеокарты плюс миллион картинок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2020-е: масштаб и смешение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meline_202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46" y="1737360"/>
            <a:ext cx="8109803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Качество предсказуемо растет с размером модели и данных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Модальности перестали быть отдельными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4480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Вдох. Выдох.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организационное закончилось, начинается предмет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Задачи машинного обучения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675" y="1737360"/>
            <a:ext cx="839834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Обучение с учителем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vise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885" y="1737360"/>
            <a:ext cx="8087925" cy="29626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956048"/>
            <a:ext cx="10545775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Обучающая выборка это примеры с правильными ответами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Каждый пример описан признаками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Ответ бывает категориальным, непрерывным или порядковым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РЕШАЮЩЕЕ ПРАВИЛО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именно мы строим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decision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326" y="2103120"/>
            <a:ext cx="3867043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5196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Модель это функция из пространства объектов в пространство ответов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Обозначаем ее a(x): подали объект, получили ответ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В классификации ответ это номер класса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Обучение — подобрать такую a, которая хорошо работает на новых объектах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Обобщение и переобучение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237" y="1737360"/>
            <a:ext cx="7371221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Идеальная память об обучающей выборке ничего не говорит о новых данных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Проверить обобщение можно, только отложив часть данных заранее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Классификация и регрессия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assification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19" y="1737360"/>
            <a:ext cx="9592856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Классификация: ответ это метка из конечного набора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Регрессия: ответ это число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Обучение без учителя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nsupervi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725" y="1737360"/>
            <a:ext cx="9404245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Правильных ответов нет, есть только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Обучение с подкреплением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infor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725" y="1737360"/>
            <a:ext cx="9404245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Агент учится на собственных пробах и ошибках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ЗА ПРЕДЕЛАМИ ТРЕХ ВЕТОК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еще бывает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ther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10545775" cy="3679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38305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Не укладываются в три ветки целиком, но встречаются постоянно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4480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Метод ближайших соседей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первый алгоритм курса, придуман в 1951 году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На чем будем работать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ne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95" y="2103120"/>
            <a:ext cx="905430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Идея целиком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nn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497" y="1737360"/>
            <a:ext cx="7606700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Похожие объекты имеют похожие ответы. Находим k ближайших и устраиваем голосование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значит «ближайший»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euc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231" y="1737360"/>
            <a:ext cx="4917232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88620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Евклидово расстояние: обычная длина отрезка между точками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Считается сразу до всех объектов обучающей выборки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Сумма идет по всем признакам, каждый вносит свой вклад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делает 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n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3351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4739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При k = 1 граница огибает каждую точку. При k = 50 она почти прямая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Где именно переобучение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nn_k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40" y="1737360"/>
            <a:ext cx="7878814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При k = 1 на обучающей выборке ошибок нет вообще: ближайший сосед объекта это он сам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ШАГ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Посмотрим на данные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le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20" y="2103120"/>
            <a:ext cx="9834055" cy="3730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990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Шесть квартир и четыре признака. Ничего необычного, обычная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ШАГ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Кто на самом деле решает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le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20" y="2103120"/>
            <a:ext cx="9834055" cy="3730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990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Расстояния до метро измеряются тысячами, цена единицами. В сумме квадратов побеждает тот, у кого числа крупнее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ШАГ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Лечение: стандартизация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standard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223" y="2103120"/>
            <a:ext cx="3127248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5196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У каждого признака вычитаем среднее и делим на разброс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После этого у всех признаков среднее ноль и разброс единица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Среднее и разброс считаются ТОЛЬКО по обучающей выборке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Посчитать их по всем данным сразу — это утечка, занятие четыре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ШАГ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изменилось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le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36" y="2103120"/>
            <a:ext cx="10476423" cy="3730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990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Теперь каждый признак имеет равный голос в расстоянии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4DA3E0"/>
                </a:solidFill>
                <a:latin typeface="Arial"/>
              </a:rPr>
              <a:t>ШАГ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0" b="1">
                <a:solidFill>
                  <a:srgbClr val="FFFFFF"/>
                </a:solidFill>
                <a:latin typeface="Arial"/>
              </a:rPr>
              <a:t>0.72 → 0.94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00" b="0">
                <a:solidFill>
                  <a:srgbClr val="4DA3E0"/>
                </a:solidFill>
                <a:latin typeface="Arial"/>
              </a:rPr>
              <a:t>во что превращается качество kNN на настоящих данных после одной строки со стандартизацией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4DA3E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4DA3E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Слабое место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nn_c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80" y="1737360"/>
            <a:ext cx="7757334" cy="3730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3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Восемьсот шумовых признаков роняют kNN почти до уровня угадывания. Наивный Байес держится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4480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Наивный Байес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метод, устроенный ровно наоборот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Напоминание из теории вероятностей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bability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40" y="1737360"/>
            <a:ext cx="7096415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Четыре факта, без которых дальше не разобраться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Теорема Байеса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778" y="1737360"/>
            <a:ext cx="7276138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88620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Слева апостериорная вероятность: насколько вероятен класс, если объект уже наблюдался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P(y) — априорная вероятность класса, оценивается его долей в выборке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P(x | y) — правдоподобие: насколько типичен такой объект для класса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72CE"/>
                </a:solidFill>
                <a:latin typeface="Arial"/>
              </a:rPr>
              <a:t>ТОТ САМЫЙ ПЕРЕХОД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От вероятностей к ответу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decision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326" y="2103120"/>
            <a:ext cx="3867043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5196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Теорема дает вероятность каждого класса, а нужен один ответ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Берем класс с наибольшей вероятностью, это и есть наша a(x)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Знаменатель P(x) одинаков для всех классов и на выбор не влияет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Значит его можно не считать вовсе: сравниваем только числители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В чем наивность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nb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906" y="1737360"/>
            <a:ext cx="8039883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88620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Правдоподобие это совместное распределение всех признаков сразу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Оценить его по выборке нельзя: комбинаций больше, чем объектов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Метод предполагает независимость признаков внутри класса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Тогда совместная вероятность распадается в произведение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Гауссовский вариант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gau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19" y="1737360"/>
            <a:ext cx="6981856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88620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Для числовых признаков берем нормальное распределение внутри класса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Тогда обучение сводится к подсчету средних и дисперсий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Вся модель: три набора чисел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nb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81" y="1737360"/>
            <a:ext cx="1852733" cy="18287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886199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Доля класса, среднее и дисперсия каждого признака внутри класса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Для трех классов и тринадцати признаков это 78 чисел плюс 3 доли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Обучающая выборка после этого не нужна и выбрасывается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Что метод выучил на наших винах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b_dens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32038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197219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Три признака из тринадцати. По горизонтали значение признака, по вертикали плотность. Столбики это 124 обучающих вина, кривые это то, чем метод их заменил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Две границы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b_vs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77" y="1737360"/>
            <a:ext cx="9224741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Слева безошибочная память и рваная граница, справа гладкая граница и ошибки уже на обучающей выборке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Два метода, две крайности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4998567" cy="3566160"/>
          </a:xfrm>
          <a:prstGeom prst="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4998567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43584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0F1418"/>
                </a:solidFill>
                <a:latin typeface="Arial"/>
              </a:rPr>
              <a:t>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435848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92"/>
              <a:buFont typeface="Arial"/>
              <a:buChar char="▪"/>
            </a:pPr>
            <a:r>
              <a:rPr sz="1600">
                <a:solidFill>
                  <a:srgbClr val="0F1418"/>
                </a:solidFill>
                <a:latin typeface="Arial"/>
              </a:rPr>
              <a:t>Ничего не вычисляет заранее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92"/>
              <a:buFont typeface="Arial"/>
              <a:buChar char="▪"/>
            </a:pPr>
            <a:r>
              <a:rPr sz="1600">
                <a:solidFill>
                  <a:srgbClr val="0F1418"/>
                </a:solidFill>
                <a:latin typeface="Arial"/>
              </a:rPr>
              <a:t>Хранит всю выборку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92"/>
              <a:buFont typeface="Arial"/>
              <a:buChar char="▪"/>
            </a:pPr>
            <a:r>
              <a:rPr sz="1600">
                <a:solidFill>
                  <a:srgbClr val="0F1418"/>
                </a:solidFill>
                <a:latin typeface="Arial"/>
              </a:rPr>
              <a:t>Ломается от масштаба и лишних признаков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1737360"/>
            <a:ext cx="4998567" cy="3566160"/>
          </a:xfrm>
          <a:prstGeom prst="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0167" y="1737360"/>
            <a:ext cx="4998567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0207" y="2057400"/>
            <a:ext cx="43584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0F1418"/>
                </a:solidFill>
                <a:latin typeface="Arial"/>
              </a:rPr>
              <a:t>Наивный Байес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7" y="2651760"/>
            <a:ext cx="435848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92"/>
              <a:buFont typeface="Arial"/>
              <a:buChar char="▪"/>
            </a:pPr>
            <a:r>
              <a:rPr sz="1600">
                <a:solidFill>
                  <a:srgbClr val="0F1418"/>
                </a:solidFill>
                <a:latin typeface="Arial"/>
              </a:rPr>
              <a:t>Считает несколько чисел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92"/>
              <a:buFont typeface="Arial"/>
              <a:buChar char="▪"/>
            </a:pPr>
            <a:r>
              <a:rPr sz="1600">
                <a:solidFill>
                  <a:srgbClr val="0F1418"/>
                </a:solidFill>
                <a:latin typeface="Arial"/>
              </a:rPr>
              <a:t>Выборку выбрасывает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92"/>
              <a:buFont typeface="Arial"/>
              <a:buChar char="▪"/>
            </a:pPr>
            <a:r>
              <a:rPr sz="1600">
                <a:solidFill>
                  <a:srgbClr val="0F1418"/>
                </a:solidFill>
                <a:latin typeface="Arial"/>
              </a:rPr>
              <a:t>Масштаб ему безразличен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4480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Как понять, что модель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и почему одной цифры не хватает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Accuracy: доля правильных ответов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urac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91" y="1737360"/>
            <a:ext cx="9811713" cy="3730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3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Самая простая метрика: сколько объектов угадали, деленное на то, сколько их всего. Числа посчитаны на наших винах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Где accuracy перестает работать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uracy_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53" y="1737360"/>
            <a:ext cx="10222589" cy="3730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3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Как только классы перестают быть равными по размеру, доля правильных ответов говорит о распределении классов, а не о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Матрица ошибок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932" y="1737360"/>
            <a:ext cx="6113831" cy="3730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24143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Раскладываем предсказания на четыре клетки и смотрим, какие именно ошибки делает модель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Precision и recall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prec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33" y="1737360"/>
            <a:ext cx="2707628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88620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Precision: из тех, кого назвали больными, сколько правда больны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Recall: из всех больных скольких мы нашли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Между ними всегда компромисс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1054"/>
              <a:buFont typeface="Arial"/>
              <a:buChar char="▪"/>
            </a:pPr>
            <a:r>
              <a:rPr sz="1700">
                <a:solidFill>
                  <a:srgbClr val="0F1418"/>
                </a:solidFill>
                <a:latin typeface="Arial"/>
              </a:rPr>
              <a:t>Что важнее, определяет задача, а не алгоритм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200" b="1">
                <a:solidFill>
                  <a:srgbClr val="0F1418"/>
                </a:solidFill>
                <a:latin typeface="Arial"/>
              </a:rPr>
              <a:t>Три бесполезные модели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07592"/>
            <a:ext cx="1463040" cy="508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cision_recall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98" y="1737360"/>
            <a:ext cx="9775699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0096"/>
            <a:ext cx="10545775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Ни одна не имеет хороших precision и recall одновременно</a:t>
            </a:r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Clr>
                <a:srgbClr val="0072CE"/>
              </a:buClr>
              <a:buSzPts val="930"/>
              <a:buFont typeface="Arial"/>
              <a:buChar char="▪"/>
            </a:pPr>
            <a:r>
              <a:rPr sz="1500">
                <a:solidFill>
                  <a:srgbClr val="0F1418"/>
                </a:solidFill>
                <a:latin typeface="Arial"/>
              </a:rPr>
              <a:t>Именно поэтому смотрят на обе метрики, а не на одну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Занятие 1 ·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100" b="0">
                <a:solidFill>
                  <a:srgbClr val="6B7280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mblem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137160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4630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400" b="1">
                <a:solidFill>
                  <a:srgbClr val="FFFFFF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834640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900" b="0" u="sng">
                <a:solidFill>
                  <a:srgbClr val="4DA3E0"/>
                </a:solidFill>
                <a:latin typeface="Arial"/>
                <a:hlinkClick r:id="rId3"/>
              </a:rPr>
              <a:t>Линейная регрессия, лекция 2 Лектория ФПМИ — обязательно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16936"/>
            <a:ext cx="114300" cy="1143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1821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280"/>
                </a:solidFill>
                <a:latin typeface="Menlo"/>
              </a:rPr>
              <a:t>https://www.youtube.com/watch?v=GKIkGc2bnmU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584448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900" b="0" u="sng">
                <a:solidFill>
                  <a:srgbClr val="4DA3E0"/>
                </a:solidFill>
                <a:latin typeface="Arial"/>
                <a:hlinkClick r:id="rId4"/>
              </a:rPr>
              <a:t>Naive Bayes и kNN, лекция 1 — повтор сегодняшнего, по желанию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66744"/>
            <a:ext cx="114300" cy="1143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93192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280"/>
                </a:solidFill>
                <a:latin typeface="Menlo"/>
              </a:rPr>
              <a:t>https://www.youtube.com/watch?v=8s9073kNXgY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334256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900" b="0">
                <a:solidFill>
                  <a:srgbClr val="FFFFFF"/>
                </a:solidFill>
                <a:latin typeface="Arial"/>
              </a:rPr>
              <a:t>Завести аккаунт на Hugging 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16552"/>
            <a:ext cx="114300" cy="1143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882896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900" b="0">
                <a:solidFill>
                  <a:srgbClr val="FFFFFF"/>
                </a:solidFill>
                <a:latin typeface="Arial"/>
              </a:rPr>
              <a:t>Доделать лабораторную и прислать в чат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65192"/>
            <a:ext cx="114300" cy="1143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DA3E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