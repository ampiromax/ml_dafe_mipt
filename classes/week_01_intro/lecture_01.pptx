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Представиться. Сказать, где работаю и чем занимаюсь: данные для мультимодального ассистента. Курс построен на задачах, которые я решаю на работе, поэтому домашки будут похожи на настоящие.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Каждая суббота это две пары: семинар и лабораторная. Лекции смотрите дома, в аудитории только руки. Четвертая часть, про устройство ML-проекта и MLOps, стоит последней намеренно: если поедем по времени, она уйдет во второй семестр. Работа с данными не отдельная тема, она проходит через весь курс, и на ней построены все домашки.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Ключевое: вместе с оценкой приходит отчет, где написано, какие проверки упали и с каким сообщением. Не согласны с проверкой — приходите с отчетом, разберем. Не успели на паре — дорешиваете дома и присылаете до следующего занятия, это нормально и не наказывается.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Первая работа: сырой дамп превратить в пригодный датасет. Вторая: разложить данные по темам и собрать честный тест. Третья: разобраться, можно ли верить разметке. Это три слоя того, чем занимается моя команда: достать, разложить, измерить.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Про совместную работу: команда до трех человек, состав объявляется заранее, защищаетесь вместе и каждый отвечает по всей работе, в отчете написано кто что делал, оценка одна на команду. Отдельно сказать: если вы уже участвуете в соревнованиях, работаете или ведете свой проект по теме — приходите до дедлайна, зачтем это вместо домашки. Требование не к формату, а к содержанию.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Одно жесткое условие: если не сдана ни одна домашняя работа, курс не сдан, и на зачет можно не приходить. Домашки и есть курс, устный ответ только проверяет, что вы понимаете, что делали. Лабораторные: каждый ноутбук от нуля до десяти, оценка за блок это среднее по всем четырнадцати. Посещаемость на оценку не влияет, но я ее веду и я вас запомню.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Провести опрос руками. От ответов зависит темп первых занятий. Отдельно записать, у кого Windows и у кого слабое железо: им понадобится помощь с окружением, а во втором семестре Colab.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Почему именно miniconda, а не системный питон: через месяц половина проблем на паре будет из-за конфликтов версий. Про Windows: WSL ставится одной командой из PowerShell с правами администратора, дальше это обычный Ubuntu. Во втором семестре, когда пойдут видеокарты, разница станет заметнее. Все, что нужно в первом семестре, считается на любом ноутбуке за секунды.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Не пересказывать каждый пункт. Главное: PyTorch и Hugging Face это то, где живет современный ML. Аккаунт на Hugging Face понадобится со второго занятия.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Объяснить механику: сначала препринт на arXiv, потом подача на конференцию, рецензирование, доклад. Именно конференции, а не журналы, здесь главное место публикации, и это отличает наше поле от физики.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Рост почти в четыреста раз за двадцать лет: с двухсот семидесяти работ до ста семи тысяч. Две мысли отсюда. Первая: прочитать все невозможно и не нужно, нужно уметь выбирать и быстро отбрасывать. Вторая: знания устаревают быстро, учиться придется всю карьеру, а не один семестр.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Не зачитывать, названия кликабельны. Сказать: полный список с рабочими ссылками лежит в репозитории, файл docs/resources.md, там восемьдесят проверенных ссылок. Из этого слайда важнее всего левая колонка: без теории вероятностей нельзя понять, что означает результат.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Deep Learning School это свой, физтеховский курс, бесплатный и с домашками на код: начинать лучше с него. Курс Войты объясняет внимание лучше всех. Про мультимодальность честно: систематического курса в мире пока не существует, ближе всего курс CMU, дальше только обзорные статьи. Третья колонка это то, чему не учат в университете, а на работе спрашивают сразу.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Совет: начать с LM Studio, если не хочется в терминал, или с Ollama, если хочется сразу API для своего кода. Обе работают без видеокарты. Полезно попробовать: становится понятно, что модель это файл с числами, а не магия из облака.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Качество определяется тем, какие признаки придумал инженер. В зрении это SIFT и HOG, рукописные детекторы углов и градиентов, была отдельная профессия. Сказать: ровно эти методы мы и проходим в первом семестре, и они не устарели — на табличных данных бустинг до сих пор обыгрывает нейросети.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Разложить десятилетие на три волны. Первая, зрение: AlexNet, VGG, ResNet — сети становятся глубже и точнее. Вторая, обучение с подкреплением: игры Atari, AlphaGo, AlphaZero, тогда казалось, что будущее за агентами. Третья, внимание: word2vec, seq2seq, трансформер, BERT. Каждая волна закрывала узкое место предыдущей и открывала новое.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Здесь уместно рассказать про свою работу: почему сейчас самое сложное это не обучить модель, а честно измерить ее качество. Узкое место сместилось снова, и теперь это данные и оценка. Восемьдесят процентов времени проекта уходит на данные, а не на модель — именно поэтому три домашки в курсе про данные.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Пять минут перерыва.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Пройтись по веткам. В обучении с учителем даны пары объект и ответ, учим условное распределение ответа. Без учителя даны только объекты, учим их распределение. В обучении с подкреплением данные агент собирает сам, учим стратегию. Первый семестр это левая ветка плюс кластеризация и снижение размерности из средней.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Ввести словарь, которым будем пользоваться весь семестр: обучающая выборка, признаки, отклик. Модель обучается на выборке, а затем применяется к новым примерам. Главное не объяснить обучающие точки, а хорошо обобщиться на новые. Перед подачей данных обычно идет предобработка: из входа стараются выделить самые содержательные аспекты, это называется извлечением признаков.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Ключевое обозначение курса, оно будет встречаться до декабря. Икс с завитком это множество всех возможных объектов, игрек с завитком — множество допустимых ответов. Для наших вин объект это тринадцать чисел, а ответ это один из трех сортов. Вторая строка появится позже, когда дойдем до Байеса: если модель умеет оценивать вероятность каждого класса, то ответом естественно объявить тот класс, у которого вероятность наибольшая. Именно это и означает arg max: не само значение максимума, а аргумент, на котором он достигается, то есть номер класса. У kNN, к которому перейдем через полчаса, вероятностей нет, и там a(x) устроена иначе: голосование соседей. Разные методы по-разному строят одну и ту же функцию.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Отсюда вопрос: обычно нам дают просто обучающую выборку, как тогда проверить обобщение? Ответ: отложить часть данных. Разбиваем выборку на обучающую и валидационную, а лучше делаем кросс-валидацию, повторяя разбиение несколько раз. Отдельное занятие про это будет четвертым, и там же разберем, как незаметно испортить себе проверку.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Классификация: классификация текстов по темам, спам-фильтр, распознавание лиц, объектов и текста. Регрессия: предсказать температуру, положение робота, цену акций. Если добавить изменение во времени, получится, например, распознавание речи. Сегодняшние два метода это классификация.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Кластеризация: разбить данные на заранее неизвестные группы по мере похожести. Выделить семейства генов, кластеризовать пользователей и персонализовать приложение под них. Снижение размерности: признаков очень много, надо оставить самые информативные, чтобы остальные алгоритмы вообще смогли работать. Сюда же дополнение матриц: дана разреженная матрица, надо предсказать, что на пустых местах — так работают рекомендации. Если ответы даны для небольшой части данных, это обучение с частичным привлечением учителя.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Три сюжета, которые стоит назвать. Многорукие бандиты: есть набор действий, каждое дает случайный результат, надо получить как можно больший доход. Исследование против использования: когда переходить от проб нового к эксплуатации того, что уже изучил. И назначение заслуги: награда приходит в самом конце, например за выигранную партию, и надо как-то распределить ее по всем ходам, которые к победе привели.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Бустинг будет седьмым занятием, выбор модели четвертым. Ранжирование и активное обучение в курс не влезли, но знать, что они есть, полезно: обе задачи очень частые в индустрии.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Подводка. Мы поговорили про то, какие бывают задачи. Теперь нужен первый работающий метод, и начать логично с самого простого из возможных. Идея kNN настолько проста, что ее придумали до появления компьютеров в современном смысле: Фикс и Ходжес в 1951 году, а исследовали Ковер и Харт в 1967. При этом метод жив: на нем стоят поиск похожих товаров, векторные базы данных, поиск дубликатов и обнаружение аномалий.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Проговорить постановку: объект это одно вино, признаки это тринадцать чисел из лаборатории, ответ это номер сорта. Все числа, которые прозвучат дальше, посчитаны на этих данных: модель учится на 124 винах и проверяется на 54, которых не видела. Датасет маленький и удобный именно для того, чтобы разбираться в механике, а не ждать вычислений.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Проговорить механику: обучения нет вообще, модель просто хранит выборку, вся работа происходит при предсказании. Такие методы называют ленивыми, и это ровно противоположно тому, как устроен наивный Байес, к которому придем через полчаса. Главный вопрос аудитории по картинке: какой из двух ответов правильный? Правильного нет, есть k, которое надо подобрать по данным.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Обратить внимание на последний пункт: из него через три слайда вырастет главная проблема метода. Бывают и другие метрики, манхэттенская и косинусная, их разберем на лабораторной.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Спросить, какая из трех картинок нравится больше. Обычно выбирают среднюю. Дальше показать, что интуиция здесь совпала с числами, но так бывает не всегда.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Расхождение между серой и синей кривой это и есть переобучение, увиденное глазами. Сказать, что подбирать k по тесту нечестно: правильный способ будет на четвертом занятии.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Задать аудитории вопрос: если мы будем искать похожие квартиры по евклидову расстоянию, что произойдет? Дать подумать полминуты. Обратить внимание на единицы измерения: миллионы, метры квадратные, просто метры и номер этажа.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Вернуться к формуле расстояния. Разность в тысячу метров дает вклад в миллион, разность в два миллиона рублей дает четыре. Три признака из четырех не участвуют в расчете вообще. Модель ищет не похожие квартиры, а квартиры на том же расстоянии от метро.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Третий пункт важнее остальных. В семинарском ноутбуке есть проверка, которая ловит именно эту ошибку: если обучить преобразование на тесте, среднее теста окажется нулевым, и проверка упадет.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Теперь модель действительно ищет похожие квартиры: близкие по цене, площади, расположению и этажу одновременно.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уже не квартиры, а датасет про вино с семинара. Тринадцать признаков, три класса. Одна строка кода дала больше, чем дал бы любой подбор гиперпараметров. Мораль на весь курс: когда качество не устраивает, сначала смотрят на данные, а не на модель.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проклятие размерности: тринадцать настоящих признаков тонут среди восьмисот случайных, и расстояние перестает нести смысл. На лабораторной студенты воспроизведут этот график сами. И это хороший мостик: посмотрим на метод, который так не ломается, и разберемся, почему.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История метода: идея восходит к пятидесятым, а известность он получил в конце девяностых как основа первых работающих спам-фильтров. Сегодня его используют как быструю базовую линию в классификации текстов и как компонент там, где важна скорость: он обучается за один проход по данным.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Пройти по блокам сверху вниз. Совместная вероятность и маргинализация: суммируя по одной переменной, избавляемся от нее. Условная вероятность и то, что совместную можно разложить двумя способами. Приравняв два разложения, за один шаг получаем теорему Байеса. И независимость, которая понадобится на следующем слайде.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Отдельно и подробно про знаменатель, это важно. P(x) — это маргинальное распределение наблюдаемых признаков: совместное распределение, просуммированное по всем классам. По сути это распределение самих данных, и оценить его труднее всего: оно многомерное и никакой структуры нам не дано. Но при сравнении гипотез между собой оно играет роль нормировочной константы, одной и той же для всех классов. В задаче поиска максимума константа на результат не влияет, поэтому знаменатель опускают. Мы не научились его считать — мы обошли необходимость его считать.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место, где студенты обычно теряются, поэтому проговорить медленно. Теорема Байеса считает вероятность для каждого класса отдельно: для сорта ноль, для сорта один, для сорта два. Получаются три числа. Но модель должна выдать один ответ, а не три числа, значит нужно правило выбора. Правило самое естественное: назвать тот класс, чья вероятность больше. Формально это arg max, и вот здесь наша функция a(x) из начала лекции наконец получает конкретный вид. Дальше маленькая хитрость. У всех трех чисел знаменатель одинаковый, это P(x). Деление на одно и то же число порядок чисел не меняет: кто был больше, тот больше и остался. Значит знаменатель можно выбросить и сравнивать числители. Это важно, потому что именно знаменатель было бы труднее всего посчитать.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Предположение почти всегда неверно: в вине содержание флавоноидов и общее содержание фенолов очевидно связаны. Метод все равно работает, и это одна из приятных странностей машинного обучения. Причина в том, что для выбора класса нужны не точные вероятности, а правильный порядок между ними.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Подчеркнуть: это предположение, а не факт. На следующих слайдах видно, насколько оно грубое и почему этого хватает.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Сравнить с kNN, который хранит всю выборку целиком и пересчитывает расстояния при каждом предсказании. Отсюда и устойчивость к лишним признакам: шумовой признак дает почти одинаковую плотность во всех классах и просто не влияет на сравнение.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Разобрать одну панель целиком, прежде чем говорить про три. Возьмем proline. Метод посмотрел на все обучающие вина сорта ноль, посчитал среднее и разброс их proline и нарисовал по этим двум числам нормальную кривую. То же для сорта один и для сорта два. Получилось три кривые на одной панели. Так же он поступил с каждым из тринадцати признаков. Теперь предсказание. Приходит новое вино, у него известен proline. Смотрим, какая из трех кривых в этой точке выше: тот сорт и вероятнее по этому признаку. Повторяем для всех тринадцати признаков, перемножаем и добавляем априорную долю сорта. Побеждает сорт с наибольшим произведением. Обратить внимание: по proline сорта разделяются хорошо, кривые почти не пересекаются, а по color_intensity хуже. Признаки не равны по полезности, и метод учитывает это автоматически.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Обратить внимание на числа в подписях. Спросить, какая граница лучше. Ответ: смотря какие данные. Если предположение о нормальности близко к правде, гладкая выигрывает и требует меньше данных. Если нет, проигрывает.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Сложнее не значит точнее. На сегодняшнем семинаре наивный Байес обыграет kNN на этих данных.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Читать таблицу сверху вниз. Первая строка это точка отсчета: модель, которая всегда отвечает самым частым сортом, угадывает в 39 процентах случаев на тесте. Все, что не обыгрывает эту строку, не имеет права на существование. Вторая и третья: одна строка со стандартизацией поднимает kNN с 0.72 до 0.94. Четвертая строка выделена намеренно: при k=1 на обучающей выборке ровно единица, потому что ближайший сосед объекта это он сам. На тесте при этом хуже, чем у k=5. Вот так переобучение выглядит в числах. Пятая: наивный Байес не ошибся на тесте ни разу, и это повод не радоваться, а насторожиться — в тесте всего 54 объекта.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Слева: при соотношении один к тысяче модель, которая всегда отвечает «нет», наберет 99.9 процента. Справа то же самое на медицинском примере: модель с accuracy 98.5 процента не нашла ни одного больного. Наши вина сбалансированы, поэтому там accuracy честна. В реальных задачах она сбалансирована почти никогда: мошеннические транзакции, поломки оборудования, редкие заболевания — везде интересный класс редкий.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Accuracy это сумма диагонали, деленная на все. Она склеивает две принципиально разные ошибки в одно число, а цена у них разная. В медицинской диагностике пропуск страшнее ложной тревоги. В спам-фильтре наоборот: письмо от начальника в папке со спамом хуже, чем реклама во входящих.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Обе метрики смотрят только на нужный класс, поэтому редкость класса их не обманывает. Модель «все здоровы» из предыдущего слайда имеет recall ноль, и это сразу видно. Первая пара метрик курса, дальше их будет много. Главная мысль на весь семестр: метрику выбирает тот, кто понимает цену ошибки, а не тот, кто пишет код.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Первая ссылка обязательна: следующее занятие целиком про линейные модели, и без нее будет тяжело. Вторая по желанию, это тот же материал, что был сегодня, но другими словами — полезно, если что-то не улеглось.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image" Target="../media/image12.png"/><Relationship Id="rId6" Type="http://schemas.openxmlformats.org/officeDocument/2006/relationships/image" Target="../media/image13.png"/><Relationship Id="rId7" Type="http://schemas.openxmlformats.org/officeDocument/2006/relationships/image" Target="../media/image14.png"/><Relationship Id="rId8" Type="http://schemas.openxmlformats.org/officeDocument/2006/relationships/image" Target="../media/image15.png"/><Relationship Id="rId9" Type="http://schemas.openxmlformats.org/officeDocument/2006/relationships/image" Target="../media/image16.png"/><Relationship Id="rId10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image" Target="../media/image18.png"/><Relationship Id="rId4" Type="http://schemas.openxmlformats.org/officeDocument/2006/relationships/image" Target="../media/image19.png"/><Relationship Id="rId5" Type="http://schemas.openxmlformats.org/officeDocument/2006/relationships/image" Target="../media/image20.png"/><Relationship Id="rId6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youtube.com/playlist?list=PLthfp5exSWEqYroMZVPIOPd5Dz3ARAXzN" TargetMode="External"/><Relationship Id="rId3" Type="http://schemas.openxmlformats.org/officeDocument/2006/relationships/hyperlink" Target="https://stepik.org/course/76" TargetMode="External"/><Relationship Id="rId4" Type="http://schemas.openxmlformats.org/officeDocument/2006/relationships/hyperlink" Target="https://education.yandex.ru/handbook/math" TargetMode="External"/><Relationship Id="rId5" Type="http://schemas.openxmlformats.org/officeDocument/2006/relationships/hyperlink" Target="https://www.youtube.com/playlist?list=PLEqoHzpnmTfCiJpMPccTWXD9DB4ERQkyw" TargetMode="External"/><Relationship Id="rId6" Type="http://schemas.openxmlformats.org/officeDocument/2006/relationships/hyperlink" Target="https://education.yandex.ru/handbook/ml" TargetMode="External"/><Relationship Id="rId7" Type="http://schemas.openxmlformats.org/officeDocument/2006/relationships/hyperlink" Target="https://github.com/esokolov/ml-course-hse" TargetMode="External"/><Relationship Id="rId8" Type="http://schemas.openxmlformats.org/officeDocument/2006/relationships/hyperlink" Target="https://cs229.stanford.edu/" TargetMode="External"/><Relationship Id="rId9" Type="http://schemas.openxmlformats.org/officeDocument/2006/relationships/hyperlink" Target="https://www.youtube.com/playlist?list=PLDcUM9US4XdNOlqSyhe38US8mFgmqzI14" TargetMode="External"/><Relationship Id="rId10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dls.samcs.ru" TargetMode="External"/><Relationship Id="rId3" Type="http://schemas.openxmlformats.org/officeDocument/2006/relationships/hyperlink" Target="https://dlcourse.ai/" TargetMode="External"/><Relationship Id="rId4" Type="http://schemas.openxmlformats.org/officeDocument/2006/relationships/hyperlink" Target="https://cs231n.stanford.edu/" TargetMode="External"/><Relationship Id="rId5" Type="http://schemas.openxmlformats.org/officeDocument/2006/relationships/hyperlink" Target="https://www.youtube.com/playlist?list=PLAqhIrjkxbuWI23v9cThsA9GvCAUhRvKZ" TargetMode="External"/><Relationship Id="rId6" Type="http://schemas.openxmlformats.org/officeDocument/2006/relationships/hyperlink" Target="https://lena-voita.github.io/nlp_course.html" TargetMode="External"/><Relationship Id="rId7" Type="http://schemas.openxmlformats.org/officeDocument/2006/relationships/hyperlink" Target="https://github.com/yandexdataschool/speech_course" TargetMode="External"/><Relationship Id="rId8" Type="http://schemas.openxmlformats.org/officeDocument/2006/relationships/hyperlink" Target="https://www.youtube.com/playlist?list=PL0Ks75aof3TgnQ_q1AmIClOeX6c-F_Kw0" TargetMode="External"/><Relationship Id="rId9" Type="http://schemas.openxmlformats.org/officeDocument/2006/relationships/hyperlink" Target="https://www.youtube.com/playlist?list=PLdGKJ8Bg_69xRZspmMOMmHDAf1nendPtA" TargetMode="External"/><Relationship Id="rId10" Type="http://schemas.openxmlformats.org/officeDocument/2006/relationships/hyperlink" Target="https://github.com/DataTalksClub/mlops-zoomcamp" TargetMode="External"/><Relationship Id="rId11" Type="http://schemas.openxmlformats.org/officeDocument/2006/relationships/hyperlink" Target="https://madewithml.com/courses/mlops/" TargetMode="External"/><Relationship Id="rId12" Type="http://schemas.openxmlformats.org/officeDocument/2006/relationships/hyperlink" Target="https://stanford-cs329s.github.io/" TargetMode="External"/><Relationship Id="rId13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image" Target="../media/image23.png"/><Relationship Id="rId4" Type="http://schemas.openxmlformats.org/officeDocument/2006/relationships/image" Target="../media/image24.png"/><Relationship Id="rId5" Type="http://schemas.openxmlformats.org/officeDocument/2006/relationships/image" Target="../media/image25.png"/><Relationship Id="rId6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notesSlide" Target="../notesSlides/notesSlide15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Relationship Id="rId3" Type="http://schemas.openxmlformats.org/officeDocument/2006/relationships/notesSlide" Target="../notesSlides/notesSlide1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Relationship Id="rId3" Type="http://schemas.openxmlformats.org/officeDocument/2006/relationships/notesSlide" Target="../notesSlides/notesSlide1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8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Relationship Id="rId3" Type="http://schemas.openxmlformats.org/officeDocument/2006/relationships/notesSlide" Target="../notesSlides/notesSlide19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Relationship Id="rId3" Type="http://schemas.openxmlformats.org/officeDocument/2006/relationships/notesSlide" Target="../notesSlides/notesSlide20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Relationship Id="rId3" Type="http://schemas.openxmlformats.org/officeDocument/2006/relationships/notesSlide" Target="../notesSlides/notesSlide21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Relationship Id="rId3" Type="http://schemas.openxmlformats.org/officeDocument/2006/relationships/notesSlide" Target="../notesSlides/notesSlide2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Relationship Id="rId3" Type="http://schemas.openxmlformats.org/officeDocument/2006/relationships/notesSlide" Target="../notesSlides/notesSlide23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Relationship Id="rId3" Type="http://schemas.openxmlformats.org/officeDocument/2006/relationships/notesSlide" Target="../notesSlides/notesSlide24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Relationship Id="rId3" Type="http://schemas.openxmlformats.org/officeDocument/2006/relationships/notesSlide" Target="../notesSlides/notesSlide25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Relationship Id="rId3" Type="http://schemas.openxmlformats.org/officeDocument/2006/relationships/notesSlide" Target="../notesSlides/notesSlide26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Relationship Id="rId3" Type="http://schemas.openxmlformats.org/officeDocument/2006/relationships/notesSlide" Target="../notesSlides/notesSlide28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Relationship Id="rId3" Type="http://schemas.openxmlformats.org/officeDocument/2006/relationships/notesSlide" Target="../notesSlides/notesSlide29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Relationship Id="rId3" Type="http://schemas.openxmlformats.org/officeDocument/2006/relationships/notesSlide" Target="../notesSlides/notesSlide30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Relationship Id="rId3" Type="http://schemas.openxmlformats.org/officeDocument/2006/relationships/notesSlide" Target="../notesSlides/notesSlide31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Relationship Id="rId3" Type="http://schemas.openxmlformats.org/officeDocument/2006/relationships/notesSlide" Target="../notesSlides/notesSlide32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png"/><Relationship Id="rId3" Type="http://schemas.openxmlformats.org/officeDocument/2006/relationships/notesSlide" Target="../notesSlides/notesSlide33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png"/><Relationship Id="rId3" Type="http://schemas.openxmlformats.org/officeDocument/2006/relationships/notesSlide" Target="../notesSlides/notesSlide34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png"/><Relationship Id="rId3" Type="http://schemas.openxmlformats.org/officeDocument/2006/relationships/notesSlide" Target="../notesSlides/notesSlide35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png"/><Relationship Id="rId3" Type="http://schemas.openxmlformats.org/officeDocument/2006/relationships/notesSlide" Target="../notesSlides/notesSlide36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.png"/><Relationship Id="rId3" Type="http://schemas.openxmlformats.org/officeDocument/2006/relationships/notesSlide" Target="../notesSlides/notesSlide38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9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.png"/><Relationship Id="rId3" Type="http://schemas.openxmlformats.org/officeDocument/2006/relationships/notesSlide" Target="../notesSlides/notesSlide40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.png"/><Relationship Id="rId3" Type="http://schemas.openxmlformats.org/officeDocument/2006/relationships/notesSlide" Target="../notesSlides/notesSlide41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Relationship Id="rId3" Type="http://schemas.openxmlformats.org/officeDocument/2006/relationships/notesSlide" Target="../notesSlides/notesSlide42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.png"/><Relationship Id="rId3" Type="http://schemas.openxmlformats.org/officeDocument/2006/relationships/notesSlide" Target="../notesSlides/notesSlide43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.png"/><Relationship Id="rId3" Type="http://schemas.openxmlformats.org/officeDocument/2006/relationships/notesSlide" Target="../notesSlides/notesSlide44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.png"/><Relationship Id="rId3" Type="http://schemas.openxmlformats.org/officeDocument/2006/relationships/notesSlide" Target="../notesSlides/notesSlide45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.png"/><Relationship Id="rId3" Type="http://schemas.openxmlformats.org/officeDocument/2006/relationships/notesSlide" Target="../notesSlides/notesSlide46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3.png"/><Relationship Id="rId3" Type="http://schemas.openxmlformats.org/officeDocument/2006/relationships/notesSlide" Target="../notesSlides/notesSlide4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4.png"/><Relationship Id="rId3" Type="http://schemas.openxmlformats.org/officeDocument/2006/relationships/notesSlide" Target="../notesSlides/notesSlide49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5.png"/><Relationship Id="rId3" Type="http://schemas.openxmlformats.org/officeDocument/2006/relationships/notesSlide" Target="../notesSlides/notesSlide50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6.png"/><Relationship Id="rId3" Type="http://schemas.openxmlformats.org/officeDocument/2006/relationships/notesSlide" Target="../notesSlides/notesSlide51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7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8.png"/><Relationship Id="rId3" Type="http://schemas.openxmlformats.org/officeDocument/2006/relationships/notesSlide" Target="../notesSlides/notesSlide52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https://www.youtube.com/watch?v=GKIkGc2bnmU&amp;list=PL4_hYwCyhAvZyW6qS58x4uElZgAkMVUvj&amp;index=2" TargetMode="External"/><Relationship Id="rId4" Type="http://schemas.openxmlformats.org/officeDocument/2006/relationships/hyperlink" Target="https://www.youtube.com/watch?v=8s9073kNXgY&amp;list=PL4_hYwCyhAvZyW6qS58x4uElZgAkMVUvj&amp;index=1" TargetMode="External"/><Relationship Id="rId5" Type="http://schemas.openxmlformats.org/officeDocument/2006/relationships/notesSlide" Target="../notesSlides/notesSlide5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emblem_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74175" y="960120"/>
            <a:ext cx="1828800" cy="18288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" y="2194560"/>
            <a:ext cx="768096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buNone/>
            </a:pPr>
            <a:r>
              <a:rPr sz="4400" b="1">
                <a:solidFill>
                  <a:srgbClr val="FFFFFF"/>
                </a:solidFill>
                <a:latin typeface="Arial"/>
              </a:rPr>
              <a:t>Машинное обучение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840480"/>
            <a:ext cx="76809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buNone/>
            </a:pPr>
            <a:r>
              <a:rPr sz="2200" b="0">
                <a:solidFill>
                  <a:srgbClr val="4DA3E0"/>
                </a:solidFill>
                <a:latin typeface="Arial"/>
              </a:rPr>
              <a:t>Занятие 1. Как все будет устроено и с чего начинается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76072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buNone/>
            </a:pPr>
            <a:r>
              <a:rPr sz="1500" b="0">
                <a:solidFill>
                  <a:srgbClr val="6B7280"/>
                </a:solidFill>
                <a:latin typeface="Arial"/>
              </a:rPr>
              <a:t>ФАЛТ МФТИ · осенний семестр 2026/27 · Патрацкий Максим</a:t>
            </a:r>
          </a:p>
          <a:p>
            <a:pPr algn="l">
              <a:lnSpc>
                <a:spcPct val="120000"/>
              </a:lnSpc>
              <a:buNone/>
            </a:pPr>
            <a:r>
              <a:rPr sz="1500" b="0">
                <a:solidFill>
                  <a:srgbClr val="6B7280"/>
                </a:solidFill>
                <a:latin typeface="Arial"/>
              </a:rPr>
              <a:t>t.me/mldafemipt</a:t>
            </a:r>
          </a:p>
        </p:txBody>
      </p:sp>
      <p:pic>
        <p:nvPicPr>
          <p:cNvPr id="8" name="Picture 7" descr="telegram_q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19895" y="3246120"/>
            <a:ext cx="1691640" cy="16916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854135" y="5102352"/>
            <a:ext cx="2423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buNone/>
            </a:pPr>
            <a:r>
              <a:rPr sz="1500" b="1">
                <a:solidFill>
                  <a:srgbClr val="FFFFFF"/>
                </a:solidFill>
                <a:latin typeface="Arial"/>
              </a:rPr>
              <a:t>@mldafemipt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54135" y="5440680"/>
            <a:ext cx="2423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buNone/>
            </a:pPr>
            <a:r>
              <a:rPr sz="1100" b="0">
                <a:solidFill>
                  <a:srgbClr val="6B7280"/>
                </a:solidFill>
                <a:latin typeface="Arial"/>
              </a:rPr>
              <a:t>чат курса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94360"/>
            <a:ext cx="1054577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3200" b="1">
                <a:solidFill>
                  <a:srgbClr val="0F1418"/>
                </a:solidFill>
                <a:latin typeface="Arial"/>
              </a:rPr>
              <a:t>Из чего состоит семестр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307592"/>
            <a:ext cx="1463040" cy="508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ourse_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737360"/>
            <a:ext cx="10545775" cy="321100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629107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1100" b="0">
                <a:solidFill>
                  <a:srgbClr val="6B7280"/>
                </a:solidFill>
                <a:latin typeface="Arial"/>
              </a:rPr>
              <a:t>Занятие 1 · Введение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54335" y="629107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buNone/>
            </a:pPr>
            <a:r>
              <a:rPr sz="1100" b="0">
                <a:solidFill>
                  <a:srgbClr val="6B7280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94360"/>
            <a:ext cx="1054577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3200" b="1">
                <a:solidFill>
                  <a:srgbClr val="0F1418"/>
                </a:solidFill>
                <a:latin typeface="Arial"/>
              </a:rPr>
              <a:t>Лабораторные и как они проверяются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307592"/>
            <a:ext cx="1463040" cy="508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ab_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737360"/>
            <a:ext cx="10545775" cy="272201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629107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1100" b="0">
                <a:solidFill>
                  <a:srgbClr val="6B7280"/>
                </a:solidFill>
                <a:latin typeface="Arial"/>
              </a:rPr>
              <a:t>Занятие 1 · Введение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54335" y="629107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buNone/>
            </a:pPr>
            <a:r>
              <a:rPr sz="1100" b="0">
                <a:solidFill>
                  <a:srgbClr val="6B7280"/>
                </a:solidFill>
                <a:latin typeface="Arial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94360"/>
            <a:ext cx="1054577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3200" b="1">
                <a:solidFill>
                  <a:srgbClr val="0F1418"/>
                </a:solidFill>
                <a:latin typeface="Arial"/>
              </a:rPr>
              <a:t>Домашние работы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307592"/>
            <a:ext cx="1463040" cy="508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homework_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737360"/>
            <a:ext cx="10545775" cy="288501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4878403"/>
            <a:ext cx="10545775" cy="10424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28600" indent="-228600">
              <a:lnSpc>
                <a:spcPct val="135000"/>
              </a:lnSpc>
              <a:spcAft>
                <a:spcPts val="1000"/>
              </a:spcAft>
              <a:buClr>
                <a:srgbClr val="0072CE"/>
              </a:buClr>
              <a:buSzPts val="930"/>
              <a:buFont typeface="Arial"/>
              <a:buChar char="▪"/>
            </a:pPr>
            <a:r>
              <a:rPr sz="1500">
                <a:solidFill>
                  <a:srgbClr val="0F1418"/>
                </a:solidFill>
                <a:latin typeface="Arial"/>
              </a:rPr>
              <a:t>Три работы за семестр, на каждую четыре недели</a:t>
            </a:r>
          </a:p>
          <a:p>
            <a:pPr marL="228600" indent="-228600">
              <a:lnSpc>
                <a:spcPct val="135000"/>
              </a:lnSpc>
              <a:spcAft>
                <a:spcPts val="1000"/>
              </a:spcAft>
              <a:buClr>
                <a:srgbClr val="0072CE"/>
              </a:buClr>
              <a:buSzPts val="930"/>
              <a:buFont typeface="Arial"/>
              <a:buChar char="▪"/>
            </a:pPr>
            <a:r>
              <a:rPr sz="1500">
                <a:solidFill>
                  <a:srgbClr val="0F1418"/>
                </a:solidFill>
                <a:latin typeface="Arial"/>
              </a:rPr>
              <a:t>Жесткий дедлайн предыдущей совпадает с днем выдачи следующей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29107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1100" b="0">
                <a:solidFill>
                  <a:srgbClr val="6B7280"/>
                </a:solidFill>
                <a:latin typeface="Arial"/>
              </a:rPr>
              <a:t>Занятие 1 · Введение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54335" y="629107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buNone/>
            </a:pPr>
            <a:r>
              <a:rPr sz="1100" b="0">
                <a:solidFill>
                  <a:srgbClr val="6B7280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94360"/>
            <a:ext cx="105457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1300" b="1">
                <a:solidFill>
                  <a:srgbClr val="0072CE"/>
                </a:solidFill>
                <a:latin typeface="Arial"/>
              </a:rPr>
              <a:t>И РАБОТАТЬ МОЖНО ВМЕСТЕ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60120"/>
            <a:ext cx="1054577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3200" b="1">
                <a:solidFill>
                  <a:srgbClr val="0F1418"/>
                </a:solidFill>
                <a:latin typeface="Arial"/>
              </a:rPr>
              <a:t>Как делать и как сдавать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673352"/>
            <a:ext cx="1463040" cy="508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repo_stru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95005" y="2103120"/>
            <a:ext cx="8801684" cy="334670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5705856"/>
            <a:ext cx="10545775" cy="10424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28600" indent="-228600">
              <a:lnSpc>
                <a:spcPct val="135000"/>
              </a:lnSpc>
              <a:spcAft>
                <a:spcPts val="1000"/>
              </a:spcAft>
              <a:buClr>
                <a:srgbClr val="0072CE"/>
              </a:buClr>
              <a:buSzPts val="930"/>
              <a:buFont typeface="Arial"/>
              <a:buChar char="▪"/>
            </a:pPr>
            <a:r>
              <a:rPr sz="1500">
                <a:solidFill>
                  <a:srgbClr val="0F1418"/>
                </a:solidFill>
                <a:latin typeface="Arial"/>
              </a:rPr>
              <a:t>Оформление любое, на ваше усмотрение</a:t>
            </a:r>
          </a:p>
          <a:p>
            <a:pPr marL="228600" indent="-228600">
              <a:lnSpc>
                <a:spcPct val="135000"/>
              </a:lnSpc>
              <a:spcAft>
                <a:spcPts val="1000"/>
              </a:spcAft>
              <a:buClr>
                <a:srgbClr val="0072CE"/>
              </a:buClr>
              <a:buSzPts val="930"/>
              <a:buFont typeface="Arial"/>
              <a:buChar char="▪"/>
            </a:pPr>
            <a:r>
              <a:rPr sz="1500">
                <a:solidFill>
                  <a:srgbClr val="0F1418"/>
                </a:solidFill>
                <a:latin typeface="Arial"/>
              </a:rPr>
              <a:t>Защита устная, во время лабораторных занятий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29107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1100" b="0">
                <a:solidFill>
                  <a:srgbClr val="6B7280"/>
                </a:solidFill>
                <a:latin typeface="Arial"/>
              </a:rPr>
              <a:t>Занятие 1 · Введение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54335" y="629107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buNone/>
            </a:pPr>
            <a:r>
              <a:rPr sz="1100" b="0">
                <a:solidFill>
                  <a:srgbClr val="6B7280"/>
                </a:solidFill>
                <a:latin typeface="Arial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94360"/>
            <a:ext cx="1054577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3200" b="1">
                <a:solidFill>
                  <a:srgbClr val="0F1418"/>
                </a:solidFill>
                <a:latin typeface="Arial"/>
              </a:rPr>
              <a:t>Оценивание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307592"/>
            <a:ext cx="1463040" cy="508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grading_spl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77767" y="1737360"/>
            <a:ext cx="8436161" cy="33467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5340096"/>
            <a:ext cx="10545775" cy="10424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28600" indent="-228600">
              <a:lnSpc>
                <a:spcPct val="135000"/>
              </a:lnSpc>
              <a:spcAft>
                <a:spcPts val="1000"/>
              </a:spcAft>
              <a:buClr>
                <a:srgbClr val="0072CE"/>
              </a:buClr>
              <a:buSzPts val="930"/>
              <a:buFont typeface="Arial"/>
              <a:buChar char="▪"/>
            </a:pPr>
            <a:r>
              <a:rPr sz="1500">
                <a:solidFill>
                  <a:srgbClr val="0F1418"/>
                </a:solidFill>
                <a:latin typeface="Arial"/>
              </a:rPr>
              <a:t>Итог округляется до целого, порог сдачи четыре балла</a:t>
            </a:r>
          </a:p>
          <a:p>
            <a:pPr marL="228600" indent="-228600">
              <a:lnSpc>
                <a:spcPct val="135000"/>
              </a:lnSpc>
              <a:spcAft>
                <a:spcPts val="1000"/>
              </a:spcAft>
              <a:buClr>
                <a:srgbClr val="0072CE"/>
              </a:buClr>
              <a:buSzPts val="930"/>
              <a:buFont typeface="Arial"/>
              <a:buChar char="▪"/>
            </a:pPr>
            <a:r>
              <a:rPr sz="1500">
                <a:solidFill>
                  <a:srgbClr val="0F1418"/>
                </a:solidFill>
                <a:latin typeface="Arial"/>
              </a:rPr>
              <a:t>Свой проект или хакатон по теме можно зачесть вместо домашки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29107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1100" b="0">
                <a:solidFill>
                  <a:srgbClr val="6B7280"/>
                </a:solidFill>
                <a:latin typeface="Arial"/>
              </a:rPr>
              <a:t>Занятие 1 · Введение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54335" y="629107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buNone/>
            </a:pPr>
            <a:r>
              <a:rPr sz="1100" b="0">
                <a:solidFill>
                  <a:srgbClr val="6B7280"/>
                </a:solidFill>
                <a:latin typeface="Arial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94360"/>
            <a:ext cx="1054577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3200" b="1">
                <a:solidFill>
                  <a:srgbClr val="0F1418"/>
                </a:solidFill>
                <a:latin typeface="Arial"/>
              </a:rPr>
              <a:t>Вопросы о вашем опыте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307592"/>
            <a:ext cx="1463040" cy="508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737360"/>
            <a:ext cx="10545775" cy="3840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28600" indent="-228600">
              <a:lnSpc>
                <a:spcPct val="135000"/>
              </a:lnSpc>
              <a:spcAft>
                <a:spcPts val="1000"/>
              </a:spcAft>
              <a:buClr>
                <a:srgbClr val="0072CE"/>
              </a:buClr>
              <a:buSzPts val="1240"/>
              <a:buFont typeface="Arial"/>
              <a:buChar char="▪"/>
            </a:pPr>
            <a:r>
              <a:rPr sz="2000">
                <a:solidFill>
                  <a:srgbClr val="0F1418"/>
                </a:solidFill>
                <a:latin typeface="Arial"/>
              </a:rPr>
              <a:t>Какая у вас система и сколько оперативной памяти</a:t>
            </a:r>
          </a:p>
          <a:p>
            <a:pPr marL="228600" indent="-228600">
              <a:lnSpc>
                <a:spcPct val="135000"/>
              </a:lnSpc>
              <a:spcAft>
                <a:spcPts val="1000"/>
              </a:spcAft>
              <a:buClr>
                <a:srgbClr val="0072CE"/>
              </a:buClr>
              <a:buSzPts val="1240"/>
              <a:buFont typeface="Arial"/>
              <a:buChar char="▪"/>
            </a:pPr>
            <a:r>
              <a:rPr sz="2000">
                <a:solidFill>
                  <a:srgbClr val="0F1418"/>
                </a:solidFill>
                <a:latin typeface="Arial"/>
              </a:rPr>
              <a:t>Кто писал на питоне</a:t>
            </a:r>
          </a:p>
          <a:p>
            <a:pPr marL="228600" indent="-228600">
              <a:lnSpc>
                <a:spcPct val="135000"/>
              </a:lnSpc>
              <a:spcAft>
                <a:spcPts val="1000"/>
              </a:spcAft>
              <a:buClr>
                <a:srgbClr val="0072CE"/>
              </a:buClr>
              <a:buSzPts val="1240"/>
              <a:buFont typeface="Arial"/>
              <a:buChar char="▪"/>
            </a:pPr>
            <a:r>
              <a:rPr sz="2000">
                <a:solidFill>
                  <a:srgbClr val="0F1418"/>
                </a:solidFill>
                <a:latin typeface="Arial"/>
              </a:rPr>
              <a:t>Кто видел numpy и pandas</a:t>
            </a:r>
          </a:p>
          <a:p>
            <a:pPr marL="228600" indent="-228600">
              <a:lnSpc>
                <a:spcPct val="135000"/>
              </a:lnSpc>
              <a:spcAft>
                <a:spcPts val="1000"/>
              </a:spcAft>
              <a:buClr>
                <a:srgbClr val="0072CE"/>
              </a:buClr>
              <a:buSzPts val="1240"/>
              <a:buFont typeface="Arial"/>
              <a:buChar char="▪"/>
            </a:pPr>
            <a:r>
              <a:rPr sz="2000">
                <a:solidFill>
                  <a:srgbClr val="0F1418"/>
                </a:solidFill>
                <a:latin typeface="Arial"/>
              </a:rPr>
              <a:t>Кто уже что-то делал по машинному обучению</a:t>
            </a:r>
          </a:p>
          <a:p>
            <a:pPr marL="228600" indent="-228600">
              <a:lnSpc>
                <a:spcPct val="135000"/>
              </a:lnSpc>
              <a:spcAft>
                <a:spcPts val="1000"/>
              </a:spcAft>
              <a:buClr>
                <a:srgbClr val="0072CE"/>
              </a:buClr>
              <a:buSzPts val="1240"/>
              <a:buFont typeface="Arial"/>
              <a:buChar char="▪"/>
            </a:pPr>
            <a:r>
              <a:rPr sz="2000">
                <a:solidFill>
                  <a:srgbClr val="0F1418"/>
                </a:solidFill>
                <a:latin typeface="Arial"/>
              </a:rPr>
              <a:t>У кого есть аккаунт на GitHub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29107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1100" b="0">
                <a:solidFill>
                  <a:srgbClr val="6B7280"/>
                </a:solidFill>
                <a:latin typeface="Arial"/>
              </a:rPr>
              <a:t>Занятие 1 · Введение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54335" y="629107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buNone/>
            </a:pPr>
            <a:r>
              <a:rPr sz="1100" b="0">
                <a:solidFill>
                  <a:srgbClr val="6B7280"/>
                </a:solidFill>
                <a:latin typeface="Arial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94360"/>
            <a:ext cx="105457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1300" b="1">
                <a:solidFill>
                  <a:srgbClr val="0072CE"/>
                </a:solidFill>
                <a:latin typeface="Arial"/>
              </a:rPr>
              <a:t>ЧТО ПОСТАВИТЬ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60120"/>
            <a:ext cx="1054577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3200" b="1">
                <a:solidFill>
                  <a:srgbClr val="0F1418"/>
                </a:solidFill>
                <a:latin typeface="Arial"/>
              </a:rPr>
              <a:t>Окружение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673352"/>
            <a:ext cx="1463040" cy="508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environm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2103120"/>
            <a:ext cx="10545775" cy="350960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629107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1100" b="0">
                <a:solidFill>
                  <a:srgbClr val="6B7280"/>
                </a:solidFill>
                <a:latin typeface="Arial"/>
              </a:rPr>
              <a:t>Занятие 1 · Введение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54335" y="629107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buNone/>
            </a:pPr>
            <a:r>
              <a:rPr sz="1100" b="0">
                <a:solidFill>
                  <a:srgbClr val="6B7280"/>
                </a:solidFill>
                <a:latin typeface="Arial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mblem_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14255" y="4480560"/>
            <a:ext cx="1371600" cy="1371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182880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9000" b="1">
                <a:solidFill>
                  <a:srgbClr val="FFFFFF"/>
                </a:solidFill>
                <a:latin typeface="Arial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383280"/>
            <a:ext cx="96012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buNone/>
            </a:pPr>
            <a:r>
              <a:rPr sz="4000" b="1">
                <a:solidFill>
                  <a:srgbClr val="FFFFFF"/>
                </a:solidFill>
                <a:latin typeface="Arial"/>
              </a:rPr>
              <a:t>Что нужно знать сегодня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572000"/>
            <a:ext cx="9601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buNone/>
            </a:pPr>
            <a:r>
              <a:rPr sz="1800" b="0">
                <a:solidFill>
                  <a:srgbClr val="FFFFFF"/>
                </a:solidFill>
                <a:latin typeface="Arial"/>
              </a:rPr>
              <a:t>карта поля: инструменты, статьи, курсы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94360"/>
            <a:ext cx="1054577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3200" b="1">
                <a:solidFill>
                  <a:srgbClr val="0F1418"/>
                </a:solidFill>
                <a:latin typeface="Arial"/>
              </a:rPr>
              <a:t>Чем обучают модели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307592"/>
            <a:ext cx="1463040" cy="508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pytor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" y="1737360"/>
            <a:ext cx="2179243" cy="5404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2519172"/>
            <a:ext cx="263644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buNone/>
            </a:pPr>
            <a:r>
              <a:rPr sz="1400" b="1">
                <a:solidFill>
                  <a:srgbClr val="0F1418"/>
                </a:solidFill>
                <a:latin typeface="Arial"/>
              </a:rPr>
              <a:t>PyTorch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2793492"/>
            <a:ext cx="252671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  <a:buNone/>
            </a:pPr>
            <a:r>
              <a:rPr sz="1000" b="0">
                <a:solidFill>
                  <a:srgbClr val="6B7280"/>
                </a:solidFill>
                <a:latin typeface="Arial"/>
              </a:rPr>
              <a:t>на нем пишут почти все</a:t>
            </a:r>
          </a:p>
        </p:txBody>
      </p:sp>
      <p:pic>
        <p:nvPicPr>
          <p:cNvPr id="8" name="Picture 7" descr="huggingfa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88003" y="1737360"/>
            <a:ext cx="2179243" cy="57967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459403" y="2519172"/>
            <a:ext cx="263644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buNone/>
            </a:pPr>
            <a:r>
              <a:rPr sz="1400" b="1">
                <a:solidFill>
                  <a:srgbClr val="0F1418"/>
                </a:solidFill>
                <a:latin typeface="Arial"/>
              </a:rPr>
              <a:t>Hugging Face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14267" y="2793492"/>
            <a:ext cx="252671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  <a:buNone/>
            </a:pPr>
            <a:r>
              <a:rPr sz="1000" b="0">
                <a:solidFill>
                  <a:srgbClr val="6B7280"/>
                </a:solidFill>
                <a:latin typeface="Arial"/>
              </a:rPr>
              <a:t>модели и датасеты</a:t>
            </a:r>
          </a:p>
        </p:txBody>
      </p:sp>
      <p:pic>
        <p:nvPicPr>
          <p:cNvPr id="11" name="Picture 10" descr="scikit-lear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79905" y="1737360"/>
            <a:ext cx="868325" cy="67208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095846" y="2519172"/>
            <a:ext cx="263644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buNone/>
            </a:pPr>
            <a:r>
              <a:rPr sz="1400" b="1">
                <a:solidFill>
                  <a:srgbClr val="0F1418"/>
                </a:solidFill>
                <a:latin typeface="Arial"/>
              </a:rPr>
              <a:t>scikit-learn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50710" y="2793492"/>
            <a:ext cx="252671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  <a:buNone/>
            </a:pPr>
            <a:r>
              <a:rPr sz="1000" b="0">
                <a:solidFill>
                  <a:srgbClr val="6B7280"/>
                </a:solidFill>
                <a:latin typeface="Arial"/>
              </a:rPr>
              <a:t>весь первый семестр</a:t>
            </a:r>
          </a:p>
        </p:txBody>
      </p:sp>
      <p:pic>
        <p:nvPicPr>
          <p:cNvPr id="14" name="Picture 13" descr="jupyt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60819" y="1737360"/>
            <a:ext cx="579382" cy="67208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732289" y="2519172"/>
            <a:ext cx="263644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buNone/>
            </a:pPr>
            <a:r>
              <a:rPr sz="1400" b="1">
                <a:solidFill>
                  <a:srgbClr val="0F1418"/>
                </a:solidFill>
                <a:latin typeface="Arial"/>
              </a:rPr>
              <a:t>Jupyter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87153" y="2793492"/>
            <a:ext cx="252671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  <a:buNone/>
            </a:pPr>
            <a:r>
              <a:rPr sz="1000" b="0">
                <a:solidFill>
                  <a:srgbClr val="6B7280"/>
                </a:solidFill>
                <a:latin typeface="Arial"/>
              </a:rPr>
              <a:t>наши ноутбуки</a:t>
            </a:r>
          </a:p>
        </p:txBody>
      </p:sp>
      <p:pic>
        <p:nvPicPr>
          <p:cNvPr id="17" name="Picture 16" descr="deepspe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39919" y="3337560"/>
            <a:ext cx="1802524" cy="67208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822960" y="4119372"/>
            <a:ext cx="263644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buNone/>
            </a:pPr>
            <a:r>
              <a:rPr sz="1400" b="1">
                <a:solidFill>
                  <a:srgbClr val="0F1418"/>
                </a:solidFill>
                <a:latin typeface="Arial"/>
              </a:rPr>
              <a:t>DeepSpeed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77824" y="4393692"/>
            <a:ext cx="252671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  <a:buNone/>
            </a:pPr>
            <a:r>
              <a:rPr sz="1000" b="0">
                <a:solidFill>
                  <a:srgbClr val="6B7280"/>
                </a:solidFill>
                <a:latin typeface="Arial"/>
              </a:rPr>
              <a:t>модель не влезла в карту</a:t>
            </a:r>
          </a:p>
        </p:txBody>
      </p:sp>
      <p:pic>
        <p:nvPicPr>
          <p:cNvPr id="20" name="Picture 19" descr="ray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700567" y="3337560"/>
            <a:ext cx="2154115" cy="672084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3459403" y="4119372"/>
            <a:ext cx="263644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buNone/>
            </a:pPr>
            <a:r>
              <a:rPr sz="1400" b="1">
                <a:solidFill>
                  <a:srgbClr val="0F1418"/>
                </a:solidFill>
                <a:latin typeface="Arial"/>
              </a:rPr>
              <a:t>Ray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14267" y="4393692"/>
            <a:ext cx="252671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  <a:buNone/>
            </a:pPr>
            <a:r>
              <a:rPr sz="1000" b="0">
                <a:solidFill>
                  <a:srgbClr val="6B7280"/>
                </a:solidFill>
                <a:latin typeface="Arial"/>
              </a:rPr>
              <a:t>распределенные вычисления</a:t>
            </a:r>
          </a:p>
        </p:txBody>
      </p:sp>
      <p:pic>
        <p:nvPicPr>
          <p:cNvPr id="23" name="Picture 22" descr="wandb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324446" y="3337560"/>
            <a:ext cx="2179243" cy="507452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6095846" y="4119372"/>
            <a:ext cx="263644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buNone/>
            </a:pPr>
            <a:r>
              <a:rPr sz="1400" b="1">
                <a:solidFill>
                  <a:srgbClr val="0F1418"/>
                </a:solidFill>
                <a:latin typeface="Arial"/>
              </a:rPr>
              <a:t>Weights &amp; Biases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50710" y="4393692"/>
            <a:ext cx="252671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  <a:buNone/>
            </a:pPr>
            <a:r>
              <a:rPr sz="1000" b="0">
                <a:solidFill>
                  <a:srgbClr val="6B7280"/>
                </a:solidFill>
                <a:latin typeface="Arial"/>
              </a:rPr>
              <a:t>журнал экспериментов</a:t>
            </a:r>
          </a:p>
        </p:txBody>
      </p:sp>
      <p:pic>
        <p:nvPicPr>
          <p:cNvPr id="26" name="Picture 25" descr="docker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960889" y="3337560"/>
            <a:ext cx="2179243" cy="518659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8732289" y="4119372"/>
            <a:ext cx="263644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buNone/>
            </a:pPr>
            <a:r>
              <a:rPr sz="1400" b="1">
                <a:solidFill>
                  <a:srgbClr val="0F1418"/>
                </a:solidFill>
                <a:latin typeface="Arial"/>
              </a:rPr>
              <a:t>Docker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787153" y="4393692"/>
            <a:ext cx="252671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  <a:buNone/>
            </a:pPr>
            <a:r>
              <a:rPr sz="1000" b="0">
                <a:solidFill>
                  <a:srgbClr val="6B7280"/>
                </a:solidFill>
                <a:latin typeface="Arial"/>
              </a:rPr>
              <a:t>одинаковое окружение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2960" y="629107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1100" b="0">
                <a:solidFill>
                  <a:srgbClr val="6B7280"/>
                </a:solidFill>
                <a:latin typeface="Arial"/>
              </a:rPr>
              <a:t>Занятие 1 · Введение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454335" y="629107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buNone/>
            </a:pPr>
            <a:r>
              <a:rPr sz="1100" b="0">
                <a:solidFill>
                  <a:srgbClr val="6B7280"/>
                </a:solidFill>
                <a:latin typeface="Arial"/>
              </a:rPr>
              <a:t>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94360"/>
            <a:ext cx="1054577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3200" b="1">
                <a:solidFill>
                  <a:srgbClr val="0F1418"/>
                </a:solidFill>
                <a:latin typeface="Arial"/>
              </a:rPr>
              <a:t>Где читают и публикуют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307592"/>
            <a:ext cx="1463040" cy="508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arxiv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4421" y="1737360"/>
            <a:ext cx="1493520" cy="67208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2519172"/>
            <a:ext cx="263644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buNone/>
            </a:pPr>
            <a:r>
              <a:rPr sz="1400" b="1">
                <a:solidFill>
                  <a:srgbClr val="0F1418"/>
                </a:solidFill>
                <a:latin typeface="Arial"/>
              </a:rPr>
              <a:t>arXiv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2793492"/>
            <a:ext cx="252671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  <a:buNone/>
            </a:pPr>
            <a:r>
              <a:rPr sz="1000" b="0">
                <a:solidFill>
                  <a:srgbClr val="6B7280"/>
                </a:solidFill>
                <a:latin typeface="Arial"/>
              </a:rPr>
              <a:t>препринты статей</a:t>
            </a:r>
          </a:p>
        </p:txBody>
      </p:sp>
      <p:pic>
        <p:nvPicPr>
          <p:cNvPr id="8" name="Picture 7" descr="neurip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8486" y="1737360"/>
            <a:ext cx="1498276" cy="67208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459403" y="2519172"/>
            <a:ext cx="263644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buNone/>
            </a:pPr>
            <a:r>
              <a:rPr sz="1400" b="1">
                <a:solidFill>
                  <a:srgbClr val="0F1418"/>
                </a:solidFill>
                <a:latin typeface="Arial"/>
              </a:rPr>
              <a:t>NeurIPS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14267" y="2793492"/>
            <a:ext cx="252671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  <a:buNone/>
            </a:pPr>
            <a:r>
              <a:rPr sz="1000" b="0">
                <a:solidFill>
                  <a:srgbClr val="6B7280"/>
                </a:solidFill>
                <a:latin typeface="Arial"/>
              </a:rPr>
              <a:t>самая широкая по ML</a:t>
            </a:r>
          </a:p>
        </p:txBody>
      </p:sp>
      <p:pic>
        <p:nvPicPr>
          <p:cNvPr id="11" name="Picture 10" descr="icm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42045" y="1737360"/>
            <a:ext cx="1944044" cy="67208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095846" y="2519172"/>
            <a:ext cx="263644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buNone/>
            </a:pPr>
            <a:r>
              <a:rPr sz="1400" b="1">
                <a:solidFill>
                  <a:srgbClr val="0F1418"/>
                </a:solidFill>
                <a:latin typeface="Arial"/>
              </a:rPr>
              <a:t>ICML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50710" y="2793492"/>
            <a:ext cx="252671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  <a:buNone/>
            </a:pPr>
            <a:r>
              <a:rPr sz="1000" b="0">
                <a:solidFill>
                  <a:srgbClr val="6B7280"/>
                </a:solidFill>
                <a:latin typeface="Arial"/>
              </a:rPr>
              <a:t>методы и теория</a:t>
            </a:r>
          </a:p>
        </p:txBody>
      </p:sp>
      <p:pic>
        <p:nvPicPr>
          <p:cNvPr id="14" name="Picture 13" descr="icl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60889" y="1737360"/>
            <a:ext cx="2179243" cy="65377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732289" y="2519172"/>
            <a:ext cx="263644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buNone/>
            </a:pPr>
            <a:r>
              <a:rPr sz="1400" b="1">
                <a:solidFill>
                  <a:srgbClr val="0F1418"/>
                </a:solidFill>
                <a:latin typeface="Arial"/>
              </a:rPr>
              <a:t>ICLR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87153" y="2793492"/>
            <a:ext cx="252671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  <a:buNone/>
            </a:pPr>
            <a:r>
              <a:rPr sz="1000" b="0">
                <a:solidFill>
                  <a:srgbClr val="6B7280"/>
                </a:solidFill>
                <a:latin typeface="Arial"/>
              </a:rPr>
              <a:t>обучение представлений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60120" y="3337560"/>
            <a:ext cx="2362123" cy="672084"/>
          </a:xfrm>
          <a:prstGeom prst="rect">
            <a:avLst/>
          </a:prstGeom>
          <a:solidFill>
            <a:srgbClr val="E6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0120" y="3554730"/>
            <a:ext cx="236212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buNone/>
            </a:pPr>
            <a:r>
              <a:rPr sz="1400" b="1">
                <a:solidFill>
                  <a:srgbClr val="0072CE"/>
                </a:solidFill>
                <a:latin typeface="Arial"/>
              </a:rPr>
              <a:t>CVPR / ICCV / ECCV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4119372"/>
            <a:ext cx="263644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buNone/>
            </a:pPr>
            <a:r>
              <a:rPr sz="1400" b="1">
                <a:solidFill>
                  <a:srgbClr val="0F1418"/>
                </a:solidFill>
                <a:latin typeface="Arial"/>
              </a:rPr>
              <a:t>CVPR / ICCV / ECCV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77824" y="4393692"/>
            <a:ext cx="252671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  <a:buNone/>
            </a:pPr>
            <a:r>
              <a:rPr sz="1000" b="0">
                <a:solidFill>
                  <a:srgbClr val="6B7280"/>
                </a:solidFill>
                <a:latin typeface="Arial"/>
              </a:rPr>
              <a:t>компьютерное зрение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596563" y="3337560"/>
            <a:ext cx="2362123" cy="672084"/>
          </a:xfrm>
          <a:prstGeom prst="rect">
            <a:avLst/>
          </a:prstGeom>
          <a:solidFill>
            <a:srgbClr val="E6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596563" y="3554730"/>
            <a:ext cx="236212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buNone/>
            </a:pPr>
            <a:r>
              <a:rPr sz="1400" b="1">
                <a:solidFill>
                  <a:srgbClr val="0072CE"/>
                </a:solidFill>
                <a:latin typeface="Arial"/>
              </a:rPr>
              <a:t>ACL / EMNLP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59403" y="4119372"/>
            <a:ext cx="263644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buNone/>
            </a:pPr>
            <a:r>
              <a:rPr sz="1400" b="1">
                <a:solidFill>
                  <a:srgbClr val="0F1418"/>
                </a:solidFill>
                <a:latin typeface="Arial"/>
              </a:rPr>
              <a:t>ACL / EMNLP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14267" y="4393692"/>
            <a:ext cx="252671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  <a:buNone/>
            </a:pPr>
            <a:r>
              <a:rPr sz="1000" b="0">
                <a:solidFill>
                  <a:srgbClr val="6B7280"/>
                </a:solidFill>
                <a:latin typeface="Arial"/>
              </a:rPr>
              <a:t>обработка языка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33006" y="3337560"/>
            <a:ext cx="2362123" cy="672084"/>
          </a:xfrm>
          <a:prstGeom prst="rect">
            <a:avLst/>
          </a:prstGeom>
          <a:solidFill>
            <a:srgbClr val="E6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233006" y="3554730"/>
            <a:ext cx="236212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buNone/>
            </a:pPr>
            <a:r>
              <a:rPr sz="1400" b="1">
                <a:solidFill>
                  <a:srgbClr val="0072CE"/>
                </a:solidFill>
                <a:latin typeface="Arial"/>
              </a:rPr>
              <a:t>AAAI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95846" y="4119372"/>
            <a:ext cx="263644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buNone/>
            </a:pPr>
            <a:r>
              <a:rPr sz="1400" b="1">
                <a:solidFill>
                  <a:srgbClr val="0F1418"/>
                </a:solidFill>
                <a:latin typeface="Arial"/>
              </a:rPr>
              <a:t>AAAI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150710" y="4393692"/>
            <a:ext cx="252671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  <a:buNone/>
            </a:pPr>
            <a:r>
              <a:rPr sz="1000" b="0">
                <a:solidFill>
                  <a:srgbClr val="6B7280"/>
                </a:solidFill>
                <a:latin typeface="Arial"/>
              </a:rPr>
              <a:t>искусственный интеллект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869449" y="3337560"/>
            <a:ext cx="2362123" cy="672084"/>
          </a:xfrm>
          <a:prstGeom prst="rect">
            <a:avLst/>
          </a:prstGeom>
          <a:solidFill>
            <a:srgbClr val="E6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869449" y="3554730"/>
            <a:ext cx="236212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buNone/>
            </a:pPr>
            <a:r>
              <a:rPr sz="1400" b="1">
                <a:solidFill>
                  <a:srgbClr val="0072CE"/>
                </a:solidFill>
                <a:latin typeface="Arial"/>
              </a:rPr>
              <a:t>Papers with Code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732289" y="4119372"/>
            <a:ext cx="263644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buNone/>
            </a:pPr>
            <a:r>
              <a:rPr sz="1400" b="1">
                <a:solidFill>
                  <a:srgbClr val="0F1418"/>
                </a:solidFill>
                <a:latin typeface="Arial"/>
              </a:rPr>
              <a:t>Papers with Code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787153" y="4393692"/>
            <a:ext cx="252671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  <a:buNone/>
            </a:pPr>
            <a:r>
              <a:rPr sz="1000" b="0">
                <a:solidFill>
                  <a:srgbClr val="6B7280"/>
                </a:solidFill>
                <a:latin typeface="Arial"/>
              </a:rPr>
              <a:t>статьи вместе с кодом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960" y="629107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1100" b="0">
                <a:solidFill>
                  <a:srgbClr val="6B7280"/>
                </a:solidFill>
                <a:latin typeface="Arial"/>
              </a:rPr>
              <a:t>Занятие 1 · Введение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454335" y="629107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buNone/>
            </a:pPr>
            <a:r>
              <a:rPr sz="1100" b="0">
                <a:solidFill>
                  <a:srgbClr val="6B7280"/>
                </a:solidFill>
                <a:latin typeface="Arial"/>
              </a:rPr>
              <a:t>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94360"/>
            <a:ext cx="1054577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3200" b="1">
                <a:solidFill>
                  <a:srgbClr val="0F1418"/>
                </a:solidFill>
                <a:latin typeface="Arial"/>
              </a:rPr>
              <a:t>Сколько статей выходит по теме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307592"/>
            <a:ext cx="1463040" cy="508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arxiv_growt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33723" y="1737360"/>
            <a:ext cx="7724249" cy="33467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5340096"/>
            <a:ext cx="10545775" cy="10424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28600" indent="-228600">
              <a:lnSpc>
                <a:spcPct val="135000"/>
              </a:lnSpc>
              <a:spcAft>
                <a:spcPts val="1000"/>
              </a:spcAft>
              <a:buClr>
                <a:srgbClr val="0072CE"/>
              </a:buClr>
              <a:buSzPts val="930"/>
              <a:buFont typeface="Arial"/>
              <a:buChar char="▪"/>
            </a:pPr>
            <a:r>
              <a:rPr sz="1500">
                <a:solidFill>
                  <a:srgbClr val="0F1418"/>
                </a:solidFill>
                <a:latin typeface="Arial"/>
              </a:rPr>
              <a:t>Разделы по искусственному интеллекту и машинному обучению</a:t>
            </a:r>
          </a:p>
          <a:p>
            <a:pPr marL="228600" indent="-228600">
              <a:lnSpc>
                <a:spcPct val="135000"/>
              </a:lnSpc>
              <a:spcAft>
                <a:spcPts val="1000"/>
              </a:spcAft>
              <a:buClr>
                <a:srgbClr val="0072CE"/>
              </a:buClr>
              <a:buSzPts val="930"/>
              <a:buFont typeface="Arial"/>
              <a:buChar char="▪"/>
            </a:pPr>
            <a:r>
              <a:rPr sz="1500">
                <a:solidFill>
                  <a:srgbClr val="0F1418"/>
                </a:solidFill>
                <a:latin typeface="Arial"/>
              </a:rPr>
              <a:t>Данные arXiv API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29107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1100" b="0">
                <a:solidFill>
                  <a:srgbClr val="6B7280"/>
                </a:solidFill>
                <a:latin typeface="Arial"/>
              </a:rPr>
              <a:t>Занятие 1 · Введение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54335" y="629107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buNone/>
            </a:pPr>
            <a:r>
              <a:rPr sz="1100" b="0">
                <a:solidFill>
                  <a:srgbClr val="6B7280"/>
                </a:solidFill>
                <a:latin typeface="Arial"/>
              </a:rPr>
              <a:t>11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94360"/>
            <a:ext cx="105457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1300" b="1">
                <a:solidFill>
                  <a:srgbClr val="0072CE"/>
                </a:solidFill>
                <a:latin typeface="Arial"/>
              </a:rPr>
              <a:t>ПРОГРАММА НА НЕСКОЛЬКО ЛЕТ, НЕ НА СЕМЕСТР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60120"/>
            <a:ext cx="1054577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3200" b="1">
                <a:solidFill>
                  <a:srgbClr val="0F1418"/>
                </a:solidFill>
                <a:latin typeface="Arial"/>
              </a:rPr>
              <a:t>Что изучить: фундамент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673352"/>
            <a:ext cx="1463040" cy="508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03120"/>
            <a:ext cx="499856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1900" b="1">
                <a:solidFill>
                  <a:srgbClr val="0072CE"/>
                </a:solidFill>
                <a:latin typeface="Arial"/>
              </a:rPr>
              <a:t>Математика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670048"/>
            <a:ext cx="499856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1400" b="1" u="sng">
                <a:solidFill>
                  <a:srgbClr val="0072CE"/>
                </a:solidFill>
                <a:latin typeface="Arial"/>
                <a:hlinkClick r:id="rId2"/>
              </a:rPr>
              <a:t>Теория вероятностей, МФТИ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916936"/>
            <a:ext cx="499856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1100" b="0">
                <a:solidFill>
                  <a:srgbClr val="6B7280"/>
                </a:solidFill>
                <a:latin typeface="Arial"/>
              </a:rPr>
              <a:t>Райгородский, 13 лекций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310128"/>
            <a:ext cx="499856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1400" b="1" u="sng">
                <a:solidFill>
                  <a:srgbClr val="0072CE"/>
                </a:solidFill>
                <a:latin typeface="Arial"/>
                <a:hlinkClick r:id="rId3"/>
              </a:rPr>
              <a:t>Основы статистики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557016"/>
            <a:ext cx="499856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1100" b="0">
                <a:solidFill>
                  <a:srgbClr val="6B7280"/>
                </a:solidFill>
                <a:latin typeface="Arial"/>
              </a:rPr>
              <a:t>Карпов, Stepik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950208"/>
            <a:ext cx="499856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1400" b="1" u="sng">
                <a:solidFill>
                  <a:srgbClr val="0072CE"/>
                </a:solidFill>
                <a:latin typeface="Arial"/>
                <a:hlinkClick r:id="rId4"/>
              </a:rPr>
              <a:t>Математика для анализа данных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4197096"/>
            <a:ext cx="499856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1100" b="0">
                <a:solidFill>
                  <a:srgbClr val="6B7280"/>
                </a:solidFill>
                <a:latin typeface="Arial"/>
              </a:rPr>
              <a:t>учебник Яндекса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4590288"/>
            <a:ext cx="499856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1400" b="1" u="sng">
                <a:solidFill>
                  <a:srgbClr val="0072CE"/>
                </a:solidFill>
                <a:latin typeface="Arial"/>
                <a:hlinkClick r:id="rId5"/>
              </a:rPr>
              <a:t>Байесовские методы в ML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4837176"/>
            <a:ext cx="499856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1100" b="0">
                <a:solidFill>
                  <a:srgbClr val="6B7280"/>
                </a:solidFill>
                <a:latin typeface="Arial"/>
              </a:rPr>
              <a:t>Ветров, ВШЭ, 12 лекций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70167" y="2103120"/>
            <a:ext cx="499856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1900" b="1">
                <a:solidFill>
                  <a:srgbClr val="0072CE"/>
                </a:solidFill>
                <a:latin typeface="Arial"/>
              </a:rPr>
              <a:t>Машинное обучение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70167" y="2670048"/>
            <a:ext cx="499856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1400" b="1" u="sng">
                <a:solidFill>
                  <a:srgbClr val="0072CE"/>
                </a:solidFill>
                <a:latin typeface="Arial"/>
                <a:hlinkClick r:id="rId6"/>
              </a:rPr>
              <a:t>Учебник ШАД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70167" y="2916936"/>
            <a:ext cx="499856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1100" b="0">
                <a:solidFill>
                  <a:srgbClr val="6B7280"/>
                </a:solidFill>
                <a:latin typeface="Arial"/>
              </a:rPr>
              <a:t>education.yandex.ru/handbook/ml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70167" y="3310128"/>
            <a:ext cx="499856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1400" b="1" u="sng">
                <a:solidFill>
                  <a:srgbClr val="0072CE"/>
                </a:solidFill>
                <a:latin typeface="Arial"/>
                <a:hlinkClick r:id="rId7"/>
              </a:rPr>
              <a:t>Курс Соколова, ВШЭ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70167" y="3557016"/>
            <a:ext cx="499856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1100" b="0">
                <a:solidFill>
                  <a:srgbClr val="6B7280"/>
                </a:solidFill>
                <a:latin typeface="Arial"/>
              </a:rPr>
              <a:t>конспекты и домашки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70167" y="3950208"/>
            <a:ext cx="499856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1400" b="1" u="sng">
                <a:solidFill>
                  <a:srgbClr val="0072CE"/>
                </a:solidFill>
                <a:latin typeface="Arial"/>
                <a:hlinkClick r:id="rId8"/>
              </a:rPr>
              <a:t>Stanford CS229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70167" y="4197096"/>
            <a:ext cx="499856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1100" b="0">
                <a:solidFill>
                  <a:srgbClr val="6B7280"/>
                </a:solidFill>
                <a:latin typeface="Arial"/>
              </a:rPr>
              <a:t>классика, на английском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70167" y="4590288"/>
            <a:ext cx="499856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1400" b="1" u="sng">
                <a:solidFill>
                  <a:srgbClr val="0072CE"/>
                </a:solidFill>
                <a:latin typeface="Arial"/>
                <a:hlinkClick r:id="rId9"/>
              </a:rPr>
              <a:t>Statistical Rethinking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70167" y="4837176"/>
            <a:ext cx="499856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1100" b="0">
                <a:solidFill>
                  <a:srgbClr val="6B7280"/>
                </a:solidFill>
                <a:latin typeface="Arial"/>
              </a:rPr>
              <a:t>McElreath, 20 лекций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629107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1100" b="0">
                <a:solidFill>
                  <a:srgbClr val="6B7280"/>
                </a:solidFill>
                <a:latin typeface="Arial"/>
              </a:rPr>
              <a:t>Занятие 1 · Введение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454335" y="629107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buNone/>
            </a:pPr>
            <a:r>
              <a:rPr sz="1100" b="0">
                <a:solidFill>
                  <a:srgbClr val="6B7280"/>
                </a:solidFill>
                <a:latin typeface="Arial"/>
              </a:rPr>
              <a:t>12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94360"/>
            <a:ext cx="1054577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3200" b="1">
                <a:solidFill>
                  <a:srgbClr val="0F1418"/>
                </a:solidFill>
                <a:latin typeface="Arial"/>
              </a:rPr>
              <a:t>Что изучить: глубокое обучение и инженерия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307592"/>
            <a:ext cx="1463040" cy="508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737360"/>
            <a:ext cx="314949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1900" b="1">
                <a:solidFill>
                  <a:srgbClr val="0072CE"/>
                </a:solidFill>
                <a:latin typeface="Arial"/>
              </a:rPr>
              <a:t>Нейросети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304288"/>
            <a:ext cx="314949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1400" b="1" u="sng">
                <a:solidFill>
                  <a:srgbClr val="0072CE"/>
                </a:solidFill>
                <a:latin typeface="Arial"/>
                <a:hlinkClick r:id="rId2"/>
              </a:rPr>
              <a:t>Deep Learning School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551176"/>
            <a:ext cx="314949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1100" b="0">
                <a:solidFill>
                  <a:srgbClr val="6B7280"/>
                </a:solidFill>
                <a:latin typeface="Arial"/>
              </a:rPr>
              <a:t>МФТИ, свой курс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944368"/>
            <a:ext cx="314949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1400" b="1" u="sng">
                <a:solidFill>
                  <a:srgbClr val="0072CE"/>
                </a:solidFill>
                <a:latin typeface="Arial"/>
                <a:hlinkClick r:id="rId3"/>
              </a:rPr>
              <a:t>Deep learning на пальцах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191256"/>
            <a:ext cx="314949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1100" b="0">
                <a:solidFill>
                  <a:srgbClr val="6B7280"/>
                </a:solidFill>
                <a:latin typeface="Arial"/>
              </a:rPr>
              <a:t>Козлов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584448"/>
            <a:ext cx="314949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1400" b="1" u="sng">
                <a:solidFill>
                  <a:srgbClr val="0072CE"/>
                </a:solidFill>
                <a:latin typeface="Arial"/>
                <a:hlinkClick r:id="rId4"/>
              </a:rPr>
              <a:t>Stanford CS231n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831336"/>
            <a:ext cx="314949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1100" b="0">
                <a:solidFill>
                  <a:srgbClr val="6B7280"/>
                </a:solidFill>
                <a:latin typeface="Arial"/>
              </a:rPr>
              <a:t>зрение, версия 2025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4224528"/>
            <a:ext cx="314949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1400" b="1" u="sng">
                <a:solidFill>
                  <a:srgbClr val="0072CE"/>
                </a:solidFill>
                <a:latin typeface="Arial"/>
                <a:hlinkClick r:id="rId5"/>
              </a:rPr>
              <a:t>Zero to Hero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4471416"/>
            <a:ext cx="314949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1100" b="0">
                <a:solidFill>
                  <a:srgbClr val="6B7280"/>
                </a:solidFill>
                <a:latin typeface="Arial"/>
              </a:rPr>
              <a:t>Karpathy, 10 видео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21098" y="1737360"/>
            <a:ext cx="314949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1900" b="1">
                <a:solidFill>
                  <a:srgbClr val="0072CE"/>
                </a:solidFill>
                <a:latin typeface="Arial"/>
              </a:rPr>
              <a:t>Язык, звук, мультимодальность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21098" y="2304288"/>
            <a:ext cx="314949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1400" b="1" u="sng">
                <a:solidFill>
                  <a:srgbClr val="0072CE"/>
                </a:solidFill>
                <a:latin typeface="Arial"/>
                <a:hlinkClick r:id="rId6"/>
              </a:rPr>
              <a:t>NLP Course For You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21098" y="2551176"/>
            <a:ext cx="314949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1100" b="0">
                <a:solidFill>
                  <a:srgbClr val="6B7280"/>
                </a:solidFill>
                <a:latin typeface="Arial"/>
              </a:rPr>
              <a:t>Войта, лучший про внимание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2944368"/>
            <a:ext cx="314949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1400" b="1" u="sng">
                <a:solidFill>
                  <a:srgbClr val="0072CE"/>
                </a:solidFill>
                <a:latin typeface="Arial"/>
                <a:hlinkClick r:id="rId7"/>
              </a:rPr>
              <a:t>Speech course, ШАД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21098" y="3191256"/>
            <a:ext cx="314949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1100" b="0">
                <a:solidFill>
                  <a:srgbClr val="6B7280"/>
                </a:solidFill>
                <a:latin typeface="Arial"/>
              </a:rPr>
              <a:t>до диалоговых моделей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21098" y="3584448"/>
            <a:ext cx="314949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1400" b="1" u="sng">
                <a:solidFill>
                  <a:srgbClr val="0072CE"/>
                </a:solidFill>
                <a:latin typeface="Arial"/>
                <a:hlinkClick r:id="rId8"/>
              </a:rPr>
              <a:t>Трек Speech, DLS МФТИ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21098" y="3831336"/>
            <a:ext cx="314949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1100" b="0">
                <a:solidFill>
                  <a:srgbClr val="6B7280"/>
                </a:solidFill>
                <a:latin typeface="Arial"/>
              </a:rPr>
              <a:t>26 видео, есть аудио и LLM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21098" y="4224528"/>
            <a:ext cx="314949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1400" b="1" u="sng">
                <a:solidFill>
                  <a:srgbClr val="0072CE"/>
                </a:solidFill>
                <a:latin typeface="Arial"/>
                <a:hlinkClick r:id="rId9"/>
              </a:rPr>
              <a:t>CMU 11-777, Multimodal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471416"/>
            <a:ext cx="314949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1100" b="0">
                <a:solidFill>
                  <a:srgbClr val="6B7280"/>
                </a:solidFill>
                <a:latin typeface="Arial"/>
              </a:rPr>
              <a:t>18 лекций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19236" y="1737360"/>
            <a:ext cx="314949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1900" b="1">
                <a:solidFill>
                  <a:srgbClr val="0072CE"/>
                </a:solidFill>
                <a:latin typeface="Arial"/>
              </a:rPr>
              <a:t>Инженерия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19236" y="2304288"/>
            <a:ext cx="314949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1400" b="1" u="sng">
                <a:solidFill>
                  <a:srgbClr val="0072CE"/>
                </a:solidFill>
                <a:latin typeface="Arial"/>
                <a:hlinkClick r:id="rId10"/>
              </a:rPr>
              <a:t>MLOps Zoomcamp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19236" y="2551176"/>
            <a:ext cx="314949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1100" b="0">
                <a:solidFill>
                  <a:srgbClr val="6B7280"/>
                </a:solidFill>
                <a:latin typeface="Arial"/>
              </a:rPr>
              <a:t>от эксперимента до деплоя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19236" y="2944368"/>
            <a:ext cx="314949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1400" b="1" u="sng">
                <a:solidFill>
                  <a:srgbClr val="0072CE"/>
                </a:solidFill>
                <a:latin typeface="Arial"/>
                <a:hlinkClick r:id="rId11"/>
              </a:rPr>
              <a:t>Made With ML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19236" y="3191256"/>
            <a:ext cx="314949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1100" b="0">
                <a:solidFill>
                  <a:srgbClr val="6B7280"/>
                </a:solidFill>
                <a:latin typeface="Arial"/>
              </a:rPr>
              <a:t>тесты, CI, оркестрация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19236" y="3584448"/>
            <a:ext cx="314949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1400" b="1" u="sng">
                <a:solidFill>
                  <a:srgbClr val="0072CE"/>
                </a:solidFill>
                <a:latin typeface="Arial"/>
                <a:hlinkClick r:id="rId12"/>
              </a:rPr>
              <a:t>CS329S, ML Systems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19236" y="3831336"/>
            <a:ext cx="314949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1100" b="0">
                <a:solidFill>
                  <a:srgbClr val="6B7280"/>
                </a:solidFill>
                <a:latin typeface="Arial"/>
              </a:rPr>
              <a:t>проектирование систем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2960" y="629107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1100" b="0">
                <a:solidFill>
                  <a:srgbClr val="6B7280"/>
                </a:solidFill>
                <a:latin typeface="Arial"/>
              </a:rPr>
              <a:t>Занятие 1 · Введение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454335" y="629107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buNone/>
            </a:pPr>
            <a:r>
              <a:rPr sz="1100" b="0">
                <a:solidFill>
                  <a:srgbClr val="6B7280"/>
                </a:solidFill>
                <a:latin typeface="Arial"/>
              </a:rPr>
              <a:t>13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94360"/>
            <a:ext cx="1054577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3200" b="1">
                <a:solidFill>
                  <a:srgbClr val="0F1418"/>
                </a:solidFill>
                <a:latin typeface="Arial"/>
              </a:rPr>
              <a:t>Запустить языковую модель у себя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307592"/>
            <a:ext cx="1463040" cy="508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olla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3589" y="1737360"/>
            <a:ext cx="475184" cy="67208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2519172"/>
            <a:ext cx="263644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buNone/>
            </a:pPr>
            <a:r>
              <a:rPr sz="1400" b="1">
                <a:solidFill>
                  <a:srgbClr val="0F1418"/>
                </a:solidFill>
                <a:latin typeface="Arial"/>
              </a:rPr>
              <a:t>Ollama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2793492"/>
            <a:ext cx="252671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  <a:buNone/>
            </a:pPr>
            <a:r>
              <a:rPr sz="1000" b="0">
                <a:solidFill>
                  <a:srgbClr val="6B7280"/>
                </a:solidFill>
                <a:latin typeface="Arial"/>
              </a:rPr>
              <a:t>две команды в терминале</a:t>
            </a:r>
          </a:p>
        </p:txBody>
      </p:sp>
      <p:pic>
        <p:nvPicPr>
          <p:cNvPr id="8" name="Picture 7" descr="lmstudi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41582" y="1737360"/>
            <a:ext cx="672084" cy="67208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459403" y="2519172"/>
            <a:ext cx="263644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buNone/>
            </a:pPr>
            <a:r>
              <a:rPr sz="1400" b="1">
                <a:solidFill>
                  <a:srgbClr val="0F1418"/>
                </a:solidFill>
                <a:latin typeface="Arial"/>
              </a:rPr>
              <a:t>LM Studio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14267" y="2793492"/>
            <a:ext cx="252671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  <a:buNone/>
            </a:pPr>
            <a:r>
              <a:rPr sz="1000" b="0">
                <a:solidFill>
                  <a:srgbClr val="6B7280"/>
                </a:solidFill>
                <a:latin typeface="Arial"/>
              </a:rPr>
              <a:t>без терминала, есть окно</a:t>
            </a:r>
          </a:p>
        </p:txBody>
      </p:sp>
      <p:pic>
        <p:nvPicPr>
          <p:cNvPr id="11" name="Picture 10" descr="llamacp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893" y="1737360"/>
            <a:ext cx="2024349" cy="67208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095846" y="2519172"/>
            <a:ext cx="263644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buNone/>
            </a:pPr>
            <a:r>
              <a:rPr sz="1400" b="1">
                <a:solidFill>
                  <a:srgbClr val="0F1418"/>
                </a:solidFill>
                <a:latin typeface="Arial"/>
              </a:rPr>
              <a:t>llama.cpp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50710" y="2793492"/>
            <a:ext cx="252671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  <a:buNone/>
            </a:pPr>
            <a:r>
              <a:rPr sz="1000" b="0">
                <a:solidFill>
                  <a:srgbClr val="6B7280"/>
                </a:solidFill>
                <a:latin typeface="Arial"/>
              </a:rPr>
              <a:t>движок под капотом</a:t>
            </a:r>
          </a:p>
        </p:txBody>
      </p:sp>
      <p:pic>
        <p:nvPicPr>
          <p:cNvPr id="14" name="Picture 13" descr="vllm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60889" y="1737360"/>
            <a:ext cx="2179243" cy="623263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732289" y="2519172"/>
            <a:ext cx="263644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buNone/>
            </a:pPr>
            <a:r>
              <a:rPr sz="1400" b="1">
                <a:solidFill>
                  <a:srgbClr val="0F1418"/>
                </a:solidFill>
                <a:latin typeface="Arial"/>
              </a:rPr>
              <a:t>vLLM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87153" y="2793492"/>
            <a:ext cx="252671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  <a:buNone/>
            </a:pPr>
            <a:r>
              <a:rPr sz="1000" b="0">
                <a:solidFill>
                  <a:srgbClr val="6B7280"/>
                </a:solidFill>
                <a:latin typeface="Arial"/>
              </a:rPr>
              <a:t>для сервера с картой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629107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1100" b="0">
                <a:solidFill>
                  <a:srgbClr val="6B7280"/>
                </a:solidFill>
                <a:latin typeface="Arial"/>
              </a:rPr>
              <a:t>Занятие 1 · Введение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54335" y="629107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buNone/>
            </a:pPr>
            <a:r>
              <a:rPr sz="1100" b="0">
                <a:solidFill>
                  <a:srgbClr val="6B7280"/>
                </a:solidFill>
                <a:latin typeface="Arial"/>
              </a:rPr>
              <a:t>14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mblem_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14255" y="4480560"/>
            <a:ext cx="1371600" cy="1371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182880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9000" b="1">
                <a:solidFill>
                  <a:srgbClr val="FFFFFF"/>
                </a:solidFill>
                <a:latin typeface="Arial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383280"/>
            <a:ext cx="96012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buNone/>
            </a:pPr>
            <a:r>
              <a:rPr sz="4000" b="1">
                <a:solidFill>
                  <a:srgbClr val="FFFFFF"/>
                </a:solidFill>
                <a:latin typeface="Arial"/>
              </a:rPr>
              <a:t>Как мы сюда пришли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572000"/>
            <a:ext cx="9601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buNone/>
            </a:pPr>
            <a:r>
              <a:rPr sz="1800" b="0">
                <a:solidFill>
                  <a:srgbClr val="FFFFFF"/>
                </a:solidFill>
                <a:latin typeface="Arial"/>
              </a:rPr>
              <a:t>двадцать пять лет за пятнадцать минут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94360"/>
            <a:ext cx="1054577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3200" b="1">
                <a:solidFill>
                  <a:srgbClr val="0F1418"/>
                </a:solidFill>
                <a:latin typeface="Arial"/>
              </a:rPr>
              <a:t>2000-е: признаки конструируют вручную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307592"/>
            <a:ext cx="1463040" cy="508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timeline_2000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40946" y="1737360"/>
            <a:ext cx="8109803" cy="33467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5340096"/>
            <a:ext cx="10545775" cy="10424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28600" indent="-228600">
              <a:lnSpc>
                <a:spcPct val="135000"/>
              </a:lnSpc>
              <a:spcAft>
                <a:spcPts val="1000"/>
              </a:spcAft>
              <a:buClr>
                <a:srgbClr val="0072CE"/>
              </a:buClr>
              <a:buSzPts val="930"/>
              <a:buFont typeface="Arial"/>
              <a:buChar char="▪"/>
            </a:pPr>
            <a:r>
              <a:rPr sz="1500">
                <a:solidFill>
                  <a:srgbClr val="0F1418"/>
                </a:solidFill>
                <a:latin typeface="Arial"/>
              </a:rPr>
              <a:t>Правят SVM, случайный лес и градиентный бустинг</a:t>
            </a:r>
          </a:p>
          <a:p>
            <a:pPr marL="228600" indent="-228600">
              <a:lnSpc>
                <a:spcPct val="135000"/>
              </a:lnSpc>
              <a:spcAft>
                <a:spcPts val="1000"/>
              </a:spcAft>
              <a:buClr>
                <a:srgbClr val="0072CE"/>
              </a:buClr>
              <a:buSzPts val="930"/>
              <a:buFont typeface="Arial"/>
              <a:buChar char="▪"/>
            </a:pPr>
            <a:r>
              <a:rPr sz="1500">
                <a:solidFill>
                  <a:srgbClr val="0F1418"/>
                </a:solidFill>
                <a:latin typeface="Arial"/>
              </a:rPr>
              <a:t>Нейросети считаются тупиковой ветвью: данных и вычислений не хватает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29107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1100" b="0">
                <a:solidFill>
                  <a:srgbClr val="6B7280"/>
                </a:solidFill>
                <a:latin typeface="Arial"/>
              </a:rPr>
              <a:t>Занятие 1 · Введение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54335" y="629107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buNone/>
            </a:pPr>
            <a:r>
              <a:rPr sz="1100" b="0">
                <a:solidFill>
                  <a:srgbClr val="6B7280"/>
                </a:solidFill>
                <a:latin typeface="Arial"/>
              </a:rPr>
              <a:t>15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94360"/>
            <a:ext cx="1054577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3200" b="1">
                <a:solidFill>
                  <a:srgbClr val="0F1418"/>
                </a:solidFill>
                <a:latin typeface="Arial"/>
              </a:rPr>
              <a:t>2010-е: признаки выучиваются сами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307592"/>
            <a:ext cx="1463040" cy="508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timeline_2010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40946" y="1737360"/>
            <a:ext cx="8109803" cy="33467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5340096"/>
            <a:ext cx="10545775" cy="10424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28600" indent="-228600">
              <a:lnSpc>
                <a:spcPct val="135000"/>
              </a:lnSpc>
              <a:spcAft>
                <a:spcPts val="1000"/>
              </a:spcAft>
              <a:buClr>
                <a:srgbClr val="0072CE"/>
              </a:buClr>
              <a:buSzPts val="930"/>
              <a:buFont typeface="Arial"/>
              <a:buChar char="▪"/>
            </a:pPr>
            <a:r>
              <a:rPr sz="1500">
                <a:solidFill>
                  <a:srgbClr val="0F1418"/>
                </a:solidFill>
                <a:latin typeface="Arial"/>
              </a:rPr>
              <a:t>Сменился не алгоритм, а масштаб данных и вычислений</a:t>
            </a:r>
          </a:p>
          <a:p>
            <a:pPr marL="228600" indent="-228600">
              <a:lnSpc>
                <a:spcPct val="135000"/>
              </a:lnSpc>
              <a:spcAft>
                <a:spcPts val="1000"/>
              </a:spcAft>
              <a:buClr>
                <a:srgbClr val="0072CE"/>
              </a:buClr>
              <a:buSzPts val="930"/>
              <a:buFont typeface="Arial"/>
              <a:buChar char="▪"/>
            </a:pPr>
            <a:r>
              <a:rPr sz="1500">
                <a:solidFill>
                  <a:srgbClr val="0F1418"/>
                </a:solidFill>
                <a:latin typeface="Arial"/>
              </a:rPr>
              <a:t>AlexNet это идеи восьмидесятых плюс видеокарты плюс миллион картинок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29107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1100" b="0">
                <a:solidFill>
                  <a:srgbClr val="6B7280"/>
                </a:solidFill>
                <a:latin typeface="Arial"/>
              </a:rPr>
              <a:t>Занятие 1 · Введение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54335" y="629107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buNone/>
            </a:pPr>
            <a:r>
              <a:rPr sz="1100" b="0">
                <a:solidFill>
                  <a:srgbClr val="6B7280"/>
                </a:solidFill>
                <a:latin typeface="Arial"/>
              </a:rPr>
              <a:t>16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94360"/>
            <a:ext cx="1054577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3200" b="1">
                <a:solidFill>
                  <a:srgbClr val="0F1418"/>
                </a:solidFill>
                <a:latin typeface="Arial"/>
              </a:rPr>
              <a:t>2020-е: масштаб и смешение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307592"/>
            <a:ext cx="1463040" cy="508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timeline_2020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40946" y="1737360"/>
            <a:ext cx="8109803" cy="33467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5340096"/>
            <a:ext cx="10545775" cy="10424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28600" indent="-228600">
              <a:lnSpc>
                <a:spcPct val="135000"/>
              </a:lnSpc>
              <a:spcAft>
                <a:spcPts val="1000"/>
              </a:spcAft>
              <a:buClr>
                <a:srgbClr val="0072CE"/>
              </a:buClr>
              <a:buSzPts val="930"/>
              <a:buFont typeface="Arial"/>
              <a:buChar char="▪"/>
            </a:pPr>
            <a:r>
              <a:rPr sz="1500">
                <a:solidFill>
                  <a:srgbClr val="0F1418"/>
                </a:solidFill>
                <a:latin typeface="Arial"/>
              </a:rPr>
              <a:t>Качество предсказуемо растет с размером модели и данных</a:t>
            </a:r>
          </a:p>
          <a:p>
            <a:pPr marL="228600" indent="-228600">
              <a:lnSpc>
                <a:spcPct val="135000"/>
              </a:lnSpc>
              <a:spcAft>
                <a:spcPts val="1000"/>
              </a:spcAft>
              <a:buClr>
                <a:srgbClr val="0072CE"/>
              </a:buClr>
              <a:buSzPts val="930"/>
              <a:buFont typeface="Arial"/>
              <a:buChar char="▪"/>
            </a:pPr>
            <a:r>
              <a:rPr sz="1500">
                <a:solidFill>
                  <a:srgbClr val="0F1418"/>
                </a:solidFill>
                <a:latin typeface="Arial"/>
              </a:rPr>
              <a:t>Модальности перестали быть отдельными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29107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1100" b="0">
                <a:solidFill>
                  <a:srgbClr val="6B7280"/>
                </a:solidFill>
                <a:latin typeface="Arial"/>
              </a:rPr>
              <a:t>Занятие 1 · Введение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54335" y="629107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buNone/>
            </a:pPr>
            <a:r>
              <a:rPr sz="1100" b="0">
                <a:solidFill>
                  <a:srgbClr val="6B7280"/>
                </a:solidFill>
                <a:latin typeface="Arial"/>
              </a:rPr>
              <a:t>17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mblem_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14255" y="4480560"/>
            <a:ext cx="1371600" cy="1371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182880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9000" b="1">
                <a:solidFill>
                  <a:srgbClr val="FFFFFF"/>
                </a:solidFill>
                <a:latin typeface="Arial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383280"/>
            <a:ext cx="96012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buNone/>
            </a:pPr>
            <a:r>
              <a:rPr sz="4000" b="1">
                <a:solidFill>
                  <a:srgbClr val="FFFFFF"/>
                </a:solidFill>
                <a:latin typeface="Arial"/>
              </a:rPr>
              <a:t>Вдох. Выдох.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572000"/>
            <a:ext cx="9601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buNone/>
            </a:pPr>
            <a:r>
              <a:rPr sz="1800" b="0">
                <a:solidFill>
                  <a:srgbClr val="FFFFFF"/>
                </a:solidFill>
                <a:latin typeface="Arial"/>
              </a:rPr>
              <a:t>организационное закончилось, начинается предмет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94360"/>
            <a:ext cx="1054577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3200" b="1">
                <a:solidFill>
                  <a:srgbClr val="0F1418"/>
                </a:solidFill>
                <a:latin typeface="Arial"/>
              </a:rPr>
              <a:t>Задачи машинного обучения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307592"/>
            <a:ext cx="1463040" cy="508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ml_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96675" y="1737360"/>
            <a:ext cx="8398345" cy="4114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629107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1100" b="0">
                <a:solidFill>
                  <a:srgbClr val="6B7280"/>
                </a:solidFill>
                <a:latin typeface="Arial"/>
              </a:rPr>
              <a:t>Занятие 1 · Введение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54335" y="629107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buNone/>
            </a:pPr>
            <a:r>
              <a:rPr sz="1100" b="0">
                <a:solidFill>
                  <a:srgbClr val="6B7280"/>
                </a:solidFill>
                <a:latin typeface="Arial"/>
              </a:rPr>
              <a:t>18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94360"/>
            <a:ext cx="1054577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3200" b="1">
                <a:solidFill>
                  <a:srgbClr val="0F1418"/>
                </a:solidFill>
                <a:latin typeface="Arial"/>
              </a:rPr>
              <a:t>Обучение с учителем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307592"/>
            <a:ext cx="1463040" cy="508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upervised_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1885" y="1737360"/>
            <a:ext cx="8087925" cy="296265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4956048"/>
            <a:ext cx="10545775" cy="14264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28600" indent="-228600">
              <a:lnSpc>
                <a:spcPct val="135000"/>
              </a:lnSpc>
              <a:spcAft>
                <a:spcPts val="1000"/>
              </a:spcAft>
              <a:buClr>
                <a:srgbClr val="0072CE"/>
              </a:buClr>
              <a:buSzPts val="930"/>
              <a:buFont typeface="Arial"/>
              <a:buChar char="▪"/>
            </a:pPr>
            <a:r>
              <a:rPr sz="1500">
                <a:solidFill>
                  <a:srgbClr val="0F1418"/>
                </a:solidFill>
                <a:latin typeface="Arial"/>
              </a:rPr>
              <a:t>Обучающая выборка это примеры с правильными ответами</a:t>
            </a:r>
          </a:p>
          <a:p>
            <a:pPr marL="228600" indent="-228600">
              <a:lnSpc>
                <a:spcPct val="135000"/>
              </a:lnSpc>
              <a:spcAft>
                <a:spcPts val="1000"/>
              </a:spcAft>
              <a:buClr>
                <a:srgbClr val="0072CE"/>
              </a:buClr>
              <a:buSzPts val="930"/>
              <a:buFont typeface="Arial"/>
              <a:buChar char="▪"/>
            </a:pPr>
            <a:r>
              <a:rPr sz="1500">
                <a:solidFill>
                  <a:srgbClr val="0F1418"/>
                </a:solidFill>
                <a:latin typeface="Arial"/>
              </a:rPr>
              <a:t>Каждый пример описан признаками</a:t>
            </a:r>
          </a:p>
          <a:p>
            <a:pPr marL="228600" indent="-228600">
              <a:lnSpc>
                <a:spcPct val="135000"/>
              </a:lnSpc>
              <a:spcAft>
                <a:spcPts val="1000"/>
              </a:spcAft>
              <a:buClr>
                <a:srgbClr val="0072CE"/>
              </a:buClr>
              <a:buSzPts val="930"/>
              <a:buFont typeface="Arial"/>
              <a:buChar char="▪"/>
            </a:pPr>
            <a:r>
              <a:rPr sz="1500">
                <a:solidFill>
                  <a:srgbClr val="0F1418"/>
                </a:solidFill>
                <a:latin typeface="Arial"/>
              </a:rPr>
              <a:t>Ответ бывает категориальным, непрерывным или порядковым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29107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1100" b="0">
                <a:solidFill>
                  <a:srgbClr val="6B7280"/>
                </a:solidFill>
                <a:latin typeface="Arial"/>
              </a:rPr>
              <a:t>Занятие 1 · Введение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54335" y="629107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buNone/>
            </a:pPr>
            <a:r>
              <a:rPr sz="1100" b="0">
                <a:solidFill>
                  <a:srgbClr val="6B7280"/>
                </a:solidFill>
                <a:latin typeface="Arial"/>
              </a:rPr>
              <a:t>19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94360"/>
            <a:ext cx="105457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1300" b="1">
                <a:solidFill>
                  <a:srgbClr val="0072CE"/>
                </a:solidFill>
                <a:latin typeface="Arial"/>
              </a:rPr>
              <a:t>РЕШАЮЩЕЕ ПРАВИЛО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60120"/>
            <a:ext cx="1054577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3200" b="1">
                <a:solidFill>
                  <a:srgbClr val="0F1418"/>
                </a:solidFill>
                <a:latin typeface="Arial"/>
              </a:rPr>
              <a:t>Что именно мы строим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673352"/>
            <a:ext cx="1463040" cy="508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_decision_ru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62326" y="2103120"/>
            <a:ext cx="3867043" cy="18288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4251960"/>
            <a:ext cx="10545775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28600" indent="-228600">
              <a:lnSpc>
                <a:spcPct val="135000"/>
              </a:lnSpc>
              <a:spcAft>
                <a:spcPts val="1000"/>
              </a:spcAft>
              <a:buClr>
                <a:srgbClr val="0072CE"/>
              </a:buClr>
              <a:buSzPts val="1054"/>
              <a:buFont typeface="Arial"/>
              <a:buChar char="▪"/>
            </a:pPr>
            <a:r>
              <a:rPr sz="1700">
                <a:solidFill>
                  <a:srgbClr val="0F1418"/>
                </a:solidFill>
                <a:latin typeface="Arial"/>
              </a:rPr>
              <a:t>Модель это функция из пространства объектов в пространство ответов</a:t>
            </a:r>
          </a:p>
          <a:p>
            <a:pPr marL="228600" indent="-228600">
              <a:lnSpc>
                <a:spcPct val="135000"/>
              </a:lnSpc>
              <a:spcAft>
                <a:spcPts val="1000"/>
              </a:spcAft>
              <a:buClr>
                <a:srgbClr val="0072CE"/>
              </a:buClr>
              <a:buSzPts val="1054"/>
              <a:buFont typeface="Arial"/>
              <a:buChar char="▪"/>
            </a:pPr>
            <a:r>
              <a:rPr sz="1700">
                <a:solidFill>
                  <a:srgbClr val="0F1418"/>
                </a:solidFill>
                <a:latin typeface="Arial"/>
              </a:rPr>
              <a:t>Обозначаем ее a(x): подали объект, получили ответ</a:t>
            </a:r>
          </a:p>
          <a:p>
            <a:pPr marL="228600" indent="-228600">
              <a:lnSpc>
                <a:spcPct val="135000"/>
              </a:lnSpc>
              <a:spcAft>
                <a:spcPts val="1000"/>
              </a:spcAft>
              <a:buClr>
                <a:srgbClr val="0072CE"/>
              </a:buClr>
              <a:buSzPts val="1054"/>
              <a:buFont typeface="Arial"/>
              <a:buChar char="▪"/>
            </a:pPr>
            <a:r>
              <a:rPr sz="1700">
                <a:solidFill>
                  <a:srgbClr val="0F1418"/>
                </a:solidFill>
                <a:latin typeface="Arial"/>
              </a:rPr>
              <a:t>В классификации ответ это номер класса</a:t>
            </a:r>
          </a:p>
          <a:p>
            <a:pPr marL="228600" indent="-228600">
              <a:lnSpc>
                <a:spcPct val="135000"/>
              </a:lnSpc>
              <a:spcAft>
                <a:spcPts val="1000"/>
              </a:spcAft>
              <a:buClr>
                <a:srgbClr val="0072CE"/>
              </a:buClr>
              <a:buSzPts val="1054"/>
              <a:buFont typeface="Arial"/>
              <a:buChar char="▪"/>
            </a:pPr>
            <a:r>
              <a:rPr sz="1700">
                <a:solidFill>
                  <a:srgbClr val="0F1418"/>
                </a:solidFill>
                <a:latin typeface="Arial"/>
              </a:rPr>
              <a:t>Обучение — подобрать такую a, которая хорошо работает на новых объектах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29107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1100" b="0">
                <a:solidFill>
                  <a:srgbClr val="6B7280"/>
                </a:solidFill>
                <a:latin typeface="Arial"/>
              </a:rPr>
              <a:t>Занятие 1 · Введение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54335" y="629107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buNone/>
            </a:pPr>
            <a:r>
              <a:rPr sz="1100" b="0">
                <a:solidFill>
                  <a:srgbClr val="6B7280"/>
                </a:solidFill>
                <a:latin typeface="Arial"/>
              </a:rPr>
              <a:t>20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94360"/>
            <a:ext cx="1054577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3200" b="1">
                <a:solidFill>
                  <a:srgbClr val="0F1418"/>
                </a:solidFill>
                <a:latin typeface="Arial"/>
              </a:rPr>
              <a:t>Обобщение и переобучение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307592"/>
            <a:ext cx="1463040" cy="508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overfitt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10237" y="1737360"/>
            <a:ext cx="7371221" cy="33467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5340096"/>
            <a:ext cx="10545775" cy="10424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28600" indent="-228600">
              <a:lnSpc>
                <a:spcPct val="135000"/>
              </a:lnSpc>
              <a:spcAft>
                <a:spcPts val="1000"/>
              </a:spcAft>
              <a:buClr>
                <a:srgbClr val="0072CE"/>
              </a:buClr>
              <a:buSzPts val="930"/>
              <a:buFont typeface="Arial"/>
              <a:buChar char="▪"/>
            </a:pPr>
            <a:r>
              <a:rPr sz="1500">
                <a:solidFill>
                  <a:srgbClr val="0F1418"/>
                </a:solidFill>
                <a:latin typeface="Arial"/>
              </a:rPr>
              <a:t>Идеальная память об обучающей выборке ничего не говорит о новых данных</a:t>
            </a:r>
          </a:p>
          <a:p>
            <a:pPr marL="228600" indent="-228600">
              <a:lnSpc>
                <a:spcPct val="135000"/>
              </a:lnSpc>
              <a:spcAft>
                <a:spcPts val="1000"/>
              </a:spcAft>
              <a:buClr>
                <a:srgbClr val="0072CE"/>
              </a:buClr>
              <a:buSzPts val="930"/>
              <a:buFont typeface="Arial"/>
              <a:buChar char="▪"/>
            </a:pPr>
            <a:r>
              <a:rPr sz="1500">
                <a:solidFill>
                  <a:srgbClr val="0F1418"/>
                </a:solidFill>
                <a:latin typeface="Arial"/>
              </a:rPr>
              <a:t>Проверить обобщение можно, только отложив часть данных заранее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29107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1100" b="0">
                <a:solidFill>
                  <a:srgbClr val="6B7280"/>
                </a:solidFill>
                <a:latin typeface="Arial"/>
              </a:rPr>
              <a:t>Занятие 1 · Введение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54335" y="629107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buNone/>
            </a:pPr>
            <a:r>
              <a:rPr sz="1100" b="0">
                <a:solidFill>
                  <a:srgbClr val="6B7280"/>
                </a:solidFill>
                <a:latin typeface="Arial"/>
              </a:rPr>
              <a:t>21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94360"/>
            <a:ext cx="1054577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3200" b="1">
                <a:solidFill>
                  <a:srgbClr val="0F1418"/>
                </a:solidFill>
                <a:latin typeface="Arial"/>
              </a:rPr>
              <a:t>Классификация и регрессия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307592"/>
            <a:ext cx="1463040" cy="508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lassification_regres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9419" y="1737360"/>
            <a:ext cx="9592856" cy="33467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5340096"/>
            <a:ext cx="10545775" cy="10424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28600" indent="-228600">
              <a:lnSpc>
                <a:spcPct val="135000"/>
              </a:lnSpc>
              <a:spcAft>
                <a:spcPts val="1000"/>
              </a:spcAft>
              <a:buClr>
                <a:srgbClr val="0072CE"/>
              </a:buClr>
              <a:buSzPts val="930"/>
              <a:buFont typeface="Arial"/>
              <a:buChar char="▪"/>
            </a:pPr>
            <a:r>
              <a:rPr sz="1500">
                <a:solidFill>
                  <a:srgbClr val="0F1418"/>
                </a:solidFill>
                <a:latin typeface="Arial"/>
              </a:rPr>
              <a:t>Классификация: ответ это метка из конечного набора</a:t>
            </a:r>
          </a:p>
          <a:p>
            <a:pPr marL="228600" indent="-228600">
              <a:lnSpc>
                <a:spcPct val="135000"/>
              </a:lnSpc>
              <a:spcAft>
                <a:spcPts val="1000"/>
              </a:spcAft>
              <a:buClr>
                <a:srgbClr val="0072CE"/>
              </a:buClr>
              <a:buSzPts val="930"/>
              <a:buFont typeface="Arial"/>
              <a:buChar char="▪"/>
            </a:pPr>
            <a:r>
              <a:rPr sz="1500">
                <a:solidFill>
                  <a:srgbClr val="0F1418"/>
                </a:solidFill>
                <a:latin typeface="Arial"/>
              </a:rPr>
              <a:t>Регрессия: ответ это число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29107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1100" b="0">
                <a:solidFill>
                  <a:srgbClr val="6B7280"/>
                </a:solidFill>
                <a:latin typeface="Arial"/>
              </a:rPr>
              <a:t>Занятие 1 · Введение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54335" y="629107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buNone/>
            </a:pPr>
            <a:r>
              <a:rPr sz="1100" b="0">
                <a:solidFill>
                  <a:srgbClr val="6B7280"/>
                </a:solidFill>
                <a:latin typeface="Arial"/>
              </a:rPr>
              <a:t>22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94360"/>
            <a:ext cx="1054577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3200" b="1">
                <a:solidFill>
                  <a:srgbClr val="0F1418"/>
                </a:solidFill>
                <a:latin typeface="Arial"/>
              </a:rPr>
              <a:t>Обучение без учителя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307592"/>
            <a:ext cx="1463040" cy="508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unsupervis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3725" y="1737360"/>
            <a:ext cx="9404245" cy="37307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5724144"/>
            <a:ext cx="10545775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28600" indent="-228600">
              <a:lnSpc>
                <a:spcPct val="135000"/>
              </a:lnSpc>
              <a:spcAft>
                <a:spcPts val="1000"/>
              </a:spcAft>
              <a:buClr>
                <a:srgbClr val="0072CE"/>
              </a:buClr>
              <a:buSzPts val="930"/>
              <a:buFont typeface="Arial"/>
              <a:buChar char="▪"/>
            </a:pPr>
            <a:r>
              <a:rPr sz="1500">
                <a:solidFill>
                  <a:srgbClr val="0F1418"/>
                </a:solidFill>
                <a:latin typeface="Arial"/>
              </a:rPr>
              <a:t>Правильных ответов нет, есть только данные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29107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1100" b="0">
                <a:solidFill>
                  <a:srgbClr val="6B7280"/>
                </a:solidFill>
                <a:latin typeface="Arial"/>
              </a:rPr>
              <a:t>Занятие 1 · Введение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54335" y="629107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buNone/>
            </a:pPr>
            <a:r>
              <a:rPr sz="1100" b="0">
                <a:solidFill>
                  <a:srgbClr val="6B7280"/>
                </a:solidFill>
                <a:latin typeface="Arial"/>
              </a:rPr>
              <a:t>23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94360"/>
            <a:ext cx="1054577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3200" b="1">
                <a:solidFill>
                  <a:srgbClr val="0F1418"/>
                </a:solidFill>
                <a:latin typeface="Arial"/>
              </a:rPr>
              <a:t>Обучение с подкреплением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307592"/>
            <a:ext cx="1463040" cy="508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reinforcem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3725" y="1737360"/>
            <a:ext cx="9404245" cy="37307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5724144"/>
            <a:ext cx="10545775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28600" indent="-228600">
              <a:lnSpc>
                <a:spcPct val="135000"/>
              </a:lnSpc>
              <a:spcAft>
                <a:spcPts val="1000"/>
              </a:spcAft>
              <a:buClr>
                <a:srgbClr val="0072CE"/>
              </a:buClr>
              <a:buSzPts val="930"/>
              <a:buFont typeface="Arial"/>
              <a:buChar char="▪"/>
            </a:pPr>
            <a:r>
              <a:rPr sz="1500">
                <a:solidFill>
                  <a:srgbClr val="0F1418"/>
                </a:solidFill>
                <a:latin typeface="Arial"/>
              </a:rPr>
              <a:t>Агент учится на собственных пробах и ошибках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29107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1100" b="0">
                <a:solidFill>
                  <a:srgbClr val="6B7280"/>
                </a:solidFill>
                <a:latin typeface="Arial"/>
              </a:rPr>
              <a:t>Занятие 1 · Введение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54335" y="629107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buNone/>
            </a:pPr>
            <a:r>
              <a:rPr sz="1100" b="0">
                <a:solidFill>
                  <a:srgbClr val="6B7280"/>
                </a:solidFill>
                <a:latin typeface="Arial"/>
              </a:rPr>
              <a:t>24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94360"/>
            <a:ext cx="105457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1300" b="1">
                <a:solidFill>
                  <a:srgbClr val="0072CE"/>
                </a:solidFill>
                <a:latin typeface="Arial"/>
              </a:rPr>
              <a:t>ЗА ПРЕДЕЛАМИ ТРЕХ ВЕТОК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60120"/>
            <a:ext cx="1054577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3200" b="1">
                <a:solidFill>
                  <a:srgbClr val="0F1418"/>
                </a:solidFill>
                <a:latin typeface="Arial"/>
              </a:rPr>
              <a:t>Что еще бывает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673352"/>
            <a:ext cx="1463040" cy="508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other_task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2103120"/>
            <a:ext cx="10545775" cy="367915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6038305"/>
            <a:ext cx="10545775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28600" indent="-228600">
              <a:lnSpc>
                <a:spcPct val="135000"/>
              </a:lnSpc>
              <a:spcAft>
                <a:spcPts val="1000"/>
              </a:spcAft>
              <a:buClr>
                <a:srgbClr val="0072CE"/>
              </a:buClr>
              <a:buSzPts val="930"/>
              <a:buFont typeface="Arial"/>
              <a:buChar char="▪"/>
            </a:pPr>
            <a:r>
              <a:rPr sz="1500">
                <a:solidFill>
                  <a:srgbClr val="0F1418"/>
                </a:solidFill>
                <a:latin typeface="Arial"/>
              </a:rPr>
              <a:t>Не укладываются в три ветки целиком, но встречаются постоянно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29107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1100" b="0">
                <a:solidFill>
                  <a:srgbClr val="6B7280"/>
                </a:solidFill>
                <a:latin typeface="Arial"/>
              </a:rPr>
              <a:t>Занятие 1 · Введение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54335" y="629107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buNone/>
            </a:pPr>
            <a:r>
              <a:rPr sz="1100" b="0">
                <a:solidFill>
                  <a:srgbClr val="6B7280"/>
                </a:solidFill>
                <a:latin typeface="Arial"/>
              </a:rPr>
              <a:t>25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mblem_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14255" y="4480560"/>
            <a:ext cx="1371600" cy="1371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182880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9000" b="1">
                <a:solidFill>
                  <a:srgbClr val="FFFFFF"/>
                </a:solidFill>
                <a:latin typeface="Arial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383280"/>
            <a:ext cx="96012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buNone/>
            </a:pPr>
            <a:r>
              <a:rPr sz="4000" b="1">
                <a:solidFill>
                  <a:srgbClr val="FFFFFF"/>
                </a:solidFill>
                <a:latin typeface="Arial"/>
              </a:rPr>
              <a:t>Метод ближайших соседей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572000"/>
            <a:ext cx="9601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buNone/>
            </a:pPr>
            <a:r>
              <a:rPr sz="1800" b="0">
                <a:solidFill>
                  <a:srgbClr val="FFFFFF"/>
                </a:solidFill>
                <a:latin typeface="Arial"/>
              </a:rPr>
              <a:t>первый алгоритм курса, придуман в 1951 году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94360"/>
            <a:ext cx="105457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1300" b="1">
                <a:solidFill>
                  <a:srgbClr val="0072CE"/>
                </a:solidFill>
                <a:latin typeface="Arial"/>
              </a:rPr>
              <a:t>ДАННЫЕ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60120"/>
            <a:ext cx="1054577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3200" b="1">
                <a:solidFill>
                  <a:srgbClr val="0F1418"/>
                </a:solidFill>
                <a:latin typeface="Arial"/>
              </a:rPr>
              <a:t>На чем будем работать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673352"/>
            <a:ext cx="1463040" cy="508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wine_datas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8695" y="2103120"/>
            <a:ext cx="9054305" cy="41148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629107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1100" b="0">
                <a:solidFill>
                  <a:srgbClr val="6B7280"/>
                </a:solidFill>
                <a:latin typeface="Arial"/>
              </a:rPr>
              <a:t>Занятие 1 · Введение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54335" y="629107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buNone/>
            </a:pPr>
            <a:r>
              <a:rPr sz="1100" b="0">
                <a:solidFill>
                  <a:srgbClr val="6B7280"/>
                </a:solidFill>
                <a:latin typeface="Arial"/>
              </a:rPr>
              <a:t>26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94360"/>
            <a:ext cx="1054577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3200" b="1">
                <a:solidFill>
                  <a:srgbClr val="0F1418"/>
                </a:solidFill>
                <a:latin typeface="Arial"/>
              </a:rPr>
              <a:t>Идея целиком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307592"/>
            <a:ext cx="1463040" cy="508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knn_ide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92497" y="1737360"/>
            <a:ext cx="7606700" cy="37307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5724144"/>
            <a:ext cx="10545775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28600" indent="-228600">
              <a:lnSpc>
                <a:spcPct val="135000"/>
              </a:lnSpc>
              <a:spcAft>
                <a:spcPts val="1000"/>
              </a:spcAft>
              <a:buClr>
                <a:srgbClr val="0072CE"/>
              </a:buClr>
              <a:buSzPts val="930"/>
              <a:buFont typeface="Arial"/>
              <a:buChar char="▪"/>
            </a:pPr>
            <a:r>
              <a:rPr sz="1500">
                <a:solidFill>
                  <a:srgbClr val="0F1418"/>
                </a:solidFill>
                <a:latin typeface="Arial"/>
              </a:rPr>
              <a:t>Похожие объекты имеют похожие ответы. Находим k ближайших и устраиваем голосование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29107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1100" b="0">
                <a:solidFill>
                  <a:srgbClr val="6B7280"/>
                </a:solidFill>
                <a:latin typeface="Arial"/>
              </a:rPr>
              <a:t>Занятие 1 · Введение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54335" y="629107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buNone/>
            </a:pPr>
            <a:r>
              <a:rPr sz="1100" b="0">
                <a:solidFill>
                  <a:srgbClr val="6B7280"/>
                </a:solidFill>
                <a:latin typeface="Arial"/>
              </a:rPr>
              <a:t>27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94360"/>
            <a:ext cx="1054577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3200" b="1">
                <a:solidFill>
                  <a:srgbClr val="0F1418"/>
                </a:solidFill>
                <a:latin typeface="Arial"/>
              </a:rPr>
              <a:t>Что значит «ближайший»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307592"/>
            <a:ext cx="1463040" cy="508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_eucl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37231" y="1737360"/>
            <a:ext cx="4917232" cy="1828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3886200"/>
            <a:ext cx="10545775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28600" indent="-228600">
              <a:lnSpc>
                <a:spcPct val="135000"/>
              </a:lnSpc>
              <a:spcAft>
                <a:spcPts val="1000"/>
              </a:spcAft>
              <a:buClr>
                <a:srgbClr val="0072CE"/>
              </a:buClr>
              <a:buSzPts val="1054"/>
              <a:buFont typeface="Arial"/>
              <a:buChar char="▪"/>
            </a:pPr>
            <a:r>
              <a:rPr sz="1700">
                <a:solidFill>
                  <a:srgbClr val="0F1418"/>
                </a:solidFill>
                <a:latin typeface="Arial"/>
              </a:rPr>
              <a:t>Евклидово расстояние: обычная длина отрезка между точками</a:t>
            </a:r>
          </a:p>
          <a:p>
            <a:pPr marL="228600" indent="-228600">
              <a:lnSpc>
                <a:spcPct val="135000"/>
              </a:lnSpc>
              <a:spcAft>
                <a:spcPts val="1000"/>
              </a:spcAft>
              <a:buClr>
                <a:srgbClr val="0072CE"/>
              </a:buClr>
              <a:buSzPts val="1054"/>
              <a:buFont typeface="Arial"/>
              <a:buChar char="▪"/>
            </a:pPr>
            <a:r>
              <a:rPr sz="1700">
                <a:solidFill>
                  <a:srgbClr val="0F1418"/>
                </a:solidFill>
                <a:latin typeface="Arial"/>
              </a:rPr>
              <a:t>Считается сразу до всех объектов обучающей выборки</a:t>
            </a:r>
          </a:p>
          <a:p>
            <a:pPr marL="228600" indent="-228600">
              <a:lnSpc>
                <a:spcPct val="135000"/>
              </a:lnSpc>
              <a:spcAft>
                <a:spcPts val="1000"/>
              </a:spcAft>
              <a:buClr>
                <a:srgbClr val="0072CE"/>
              </a:buClr>
              <a:buSzPts val="1054"/>
              <a:buFont typeface="Arial"/>
              <a:buChar char="▪"/>
            </a:pPr>
            <a:r>
              <a:rPr sz="1700">
                <a:solidFill>
                  <a:srgbClr val="0F1418"/>
                </a:solidFill>
                <a:latin typeface="Arial"/>
              </a:rPr>
              <a:t>Сумма идет по всем признакам, каждый вносит свой вклад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29107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1100" b="0">
                <a:solidFill>
                  <a:srgbClr val="6B7280"/>
                </a:solidFill>
                <a:latin typeface="Arial"/>
              </a:rPr>
              <a:t>Занятие 1 · Введение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54335" y="629107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buNone/>
            </a:pPr>
            <a:r>
              <a:rPr sz="1100" b="0">
                <a:solidFill>
                  <a:srgbClr val="6B7280"/>
                </a:solidFill>
                <a:latin typeface="Arial"/>
              </a:rPr>
              <a:t>28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94360"/>
            <a:ext cx="1054577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3200" b="1">
                <a:solidFill>
                  <a:srgbClr val="0F1418"/>
                </a:solidFill>
                <a:latin typeface="Arial"/>
              </a:rPr>
              <a:t>Что делает k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307592"/>
            <a:ext cx="1463040" cy="508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knn_bound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737360"/>
            <a:ext cx="10545775" cy="335134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5344739"/>
            <a:ext cx="10545775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28600" indent="-228600">
              <a:lnSpc>
                <a:spcPct val="135000"/>
              </a:lnSpc>
              <a:spcAft>
                <a:spcPts val="1000"/>
              </a:spcAft>
              <a:buClr>
                <a:srgbClr val="0072CE"/>
              </a:buClr>
              <a:buSzPts val="930"/>
              <a:buFont typeface="Arial"/>
              <a:buChar char="▪"/>
            </a:pPr>
            <a:r>
              <a:rPr sz="1500">
                <a:solidFill>
                  <a:srgbClr val="0F1418"/>
                </a:solidFill>
                <a:latin typeface="Arial"/>
              </a:rPr>
              <a:t>При k = 1 граница огибает каждую точку. При k = 50 она почти прямая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29107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1100" b="0">
                <a:solidFill>
                  <a:srgbClr val="6B7280"/>
                </a:solidFill>
                <a:latin typeface="Arial"/>
              </a:rPr>
              <a:t>Занятие 1 · Введение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54335" y="629107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buNone/>
            </a:pPr>
            <a:r>
              <a:rPr sz="1100" b="0">
                <a:solidFill>
                  <a:srgbClr val="6B7280"/>
                </a:solidFill>
                <a:latin typeface="Arial"/>
              </a:rPr>
              <a:t>29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94360"/>
            <a:ext cx="1054577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3200" b="1">
                <a:solidFill>
                  <a:srgbClr val="0F1418"/>
                </a:solidFill>
                <a:latin typeface="Arial"/>
              </a:rPr>
              <a:t>Где именно переобучение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307592"/>
            <a:ext cx="1463040" cy="508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knn_k_cur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56440" y="1737360"/>
            <a:ext cx="7878814" cy="37307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5724144"/>
            <a:ext cx="10545775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28600" indent="-228600">
              <a:lnSpc>
                <a:spcPct val="135000"/>
              </a:lnSpc>
              <a:spcAft>
                <a:spcPts val="1000"/>
              </a:spcAft>
              <a:buClr>
                <a:srgbClr val="0072CE"/>
              </a:buClr>
              <a:buSzPts val="930"/>
              <a:buFont typeface="Arial"/>
              <a:buChar char="▪"/>
            </a:pPr>
            <a:r>
              <a:rPr sz="1500">
                <a:solidFill>
                  <a:srgbClr val="0F1418"/>
                </a:solidFill>
                <a:latin typeface="Arial"/>
              </a:rPr>
              <a:t>При k = 1 на обучающей выборке ошибок нет вообще: ближайший сосед объекта это он сам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29107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1100" b="0">
                <a:solidFill>
                  <a:srgbClr val="6B7280"/>
                </a:solidFill>
                <a:latin typeface="Arial"/>
              </a:rPr>
              <a:t>Занятие 1 · Введение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54335" y="629107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buNone/>
            </a:pPr>
            <a:r>
              <a:rPr sz="1100" b="0">
                <a:solidFill>
                  <a:srgbClr val="6B7280"/>
                </a:solidFill>
                <a:latin typeface="Arial"/>
              </a:rPr>
              <a:t>30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94360"/>
            <a:ext cx="105457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1300" b="1">
                <a:solidFill>
                  <a:srgbClr val="0072CE"/>
                </a:solidFill>
                <a:latin typeface="Arial"/>
              </a:rPr>
              <a:t>ШАГ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60120"/>
            <a:ext cx="1054577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3200" b="1">
                <a:solidFill>
                  <a:srgbClr val="0F1418"/>
                </a:solidFill>
                <a:latin typeface="Arial"/>
              </a:rPr>
              <a:t>Посмотрим на данные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673352"/>
            <a:ext cx="1463040" cy="508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scale_step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8820" y="2103120"/>
            <a:ext cx="9834055" cy="373075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6089904"/>
            <a:ext cx="10545775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28600" indent="-228600">
              <a:lnSpc>
                <a:spcPct val="135000"/>
              </a:lnSpc>
              <a:spcAft>
                <a:spcPts val="1000"/>
              </a:spcAft>
              <a:buClr>
                <a:srgbClr val="0072CE"/>
              </a:buClr>
              <a:buSzPts val="930"/>
              <a:buFont typeface="Arial"/>
              <a:buChar char="▪"/>
            </a:pPr>
            <a:r>
              <a:rPr sz="1500">
                <a:solidFill>
                  <a:srgbClr val="0F1418"/>
                </a:solidFill>
                <a:latin typeface="Arial"/>
              </a:rPr>
              <a:t>Шесть квартир и четыре признака. Ничего необычного, обычная таблица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29107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1100" b="0">
                <a:solidFill>
                  <a:srgbClr val="6B7280"/>
                </a:solidFill>
                <a:latin typeface="Arial"/>
              </a:rPr>
              <a:t>Занятие 1 · Введение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54335" y="629107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buNone/>
            </a:pPr>
            <a:r>
              <a:rPr sz="1100" b="0">
                <a:solidFill>
                  <a:srgbClr val="6B7280"/>
                </a:solidFill>
                <a:latin typeface="Arial"/>
              </a:rPr>
              <a:t>31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94360"/>
            <a:ext cx="105457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1300" b="1">
                <a:solidFill>
                  <a:srgbClr val="0072CE"/>
                </a:solidFill>
                <a:latin typeface="Arial"/>
              </a:rPr>
              <a:t>ШАГ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60120"/>
            <a:ext cx="1054577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3200" b="1">
                <a:solidFill>
                  <a:srgbClr val="0F1418"/>
                </a:solidFill>
                <a:latin typeface="Arial"/>
              </a:rPr>
              <a:t>Кто на самом деле решает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673352"/>
            <a:ext cx="1463040" cy="508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scale_step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8820" y="2103120"/>
            <a:ext cx="9834055" cy="373075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6089904"/>
            <a:ext cx="10545775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28600" indent="-228600">
              <a:lnSpc>
                <a:spcPct val="135000"/>
              </a:lnSpc>
              <a:spcAft>
                <a:spcPts val="1000"/>
              </a:spcAft>
              <a:buClr>
                <a:srgbClr val="0072CE"/>
              </a:buClr>
              <a:buSzPts val="930"/>
              <a:buFont typeface="Arial"/>
              <a:buChar char="▪"/>
            </a:pPr>
            <a:r>
              <a:rPr sz="1500">
                <a:solidFill>
                  <a:srgbClr val="0F1418"/>
                </a:solidFill>
                <a:latin typeface="Arial"/>
              </a:rPr>
              <a:t>Расстояния до метро измеряются тысячами, цена единицами. В сумме квадратов побеждает тот, у кого числа крупнее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29107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1100" b="0">
                <a:solidFill>
                  <a:srgbClr val="6B7280"/>
                </a:solidFill>
                <a:latin typeface="Arial"/>
              </a:rPr>
              <a:t>Занятие 1 · Введение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54335" y="629107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buNone/>
            </a:pPr>
            <a:r>
              <a:rPr sz="1100" b="0">
                <a:solidFill>
                  <a:srgbClr val="6B7280"/>
                </a:solidFill>
                <a:latin typeface="Arial"/>
              </a:rPr>
              <a:t>32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94360"/>
            <a:ext cx="105457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1300" b="1">
                <a:solidFill>
                  <a:srgbClr val="0072CE"/>
                </a:solidFill>
                <a:latin typeface="Arial"/>
              </a:rPr>
              <a:t>ШАГ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60120"/>
            <a:ext cx="1054577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3200" b="1">
                <a:solidFill>
                  <a:srgbClr val="0F1418"/>
                </a:solidFill>
                <a:latin typeface="Arial"/>
              </a:rPr>
              <a:t>Лечение: стандартизация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673352"/>
            <a:ext cx="1463040" cy="508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_standardiz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32223" y="2103120"/>
            <a:ext cx="3127248" cy="18288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4251960"/>
            <a:ext cx="10545775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28600" indent="-228600">
              <a:lnSpc>
                <a:spcPct val="135000"/>
              </a:lnSpc>
              <a:spcAft>
                <a:spcPts val="1000"/>
              </a:spcAft>
              <a:buClr>
                <a:srgbClr val="0072CE"/>
              </a:buClr>
              <a:buSzPts val="1054"/>
              <a:buFont typeface="Arial"/>
              <a:buChar char="▪"/>
            </a:pPr>
            <a:r>
              <a:rPr sz="1700">
                <a:solidFill>
                  <a:srgbClr val="0F1418"/>
                </a:solidFill>
                <a:latin typeface="Arial"/>
              </a:rPr>
              <a:t>У каждого признака вычитаем среднее и делим на разброс</a:t>
            </a:r>
          </a:p>
          <a:p>
            <a:pPr marL="228600" indent="-228600">
              <a:lnSpc>
                <a:spcPct val="135000"/>
              </a:lnSpc>
              <a:spcAft>
                <a:spcPts val="1000"/>
              </a:spcAft>
              <a:buClr>
                <a:srgbClr val="0072CE"/>
              </a:buClr>
              <a:buSzPts val="1054"/>
              <a:buFont typeface="Arial"/>
              <a:buChar char="▪"/>
            </a:pPr>
            <a:r>
              <a:rPr sz="1700">
                <a:solidFill>
                  <a:srgbClr val="0F1418"/>
                </a:solidFill>
                <a:latin typeface="Arial"/>
              </a:rPr>
              <a:t>После этого у всех признаков среднее ноль и разброс единица</a:t>
            </a:r>
          </a:p>
          <a:p>
            <a:pPr marL="228600" indent="-228600">
              <a:lnSpc>
                <a:spcPct val="135000"/>
              </a:lnSpc>
              <a:spcAft>
                <a:spcPts val="1000"/>
              </a:spcAft>
              <a:buClr>
                <a:srgbClr val="0072CE"/>
              </a:buClr>
              <a:buSzPts val="1054"/>
              <a:buFont typeface="Arial"/>
              <a:buChar char="▪"/>
            </a:pPr>
            <a:r>
              <a:rPr sz="1700">
                <a:solidFill>
                  <a:srgbClr val="0F1418"/>
                </a:solidFill>
                <a:latin typeface="Arial"/>
              </a:rPr>
              <a:t>Среднее и разброс считаются ТОЛЬКО по обучающей выборке</a:t>
            </a:r>
          </a:p>
          <a:p>
            <a:pPr marL="228600" indent="-228600">
              <a:lnSpc>
                <a:spcPct val="135000"/>
              </a:lnSpc>
              <a:spcAft>
                <a:spcPts val="1000"/>
              </a:spcAft>
              <a:buClr>
                <a:srgbClr val="0072CE"/>
              </a:buClr>
              <a:buSzPts val="1054"/>
              <a:buFont typeface="Arial"/>
              <a:buChar char="▪"/>
            </a:pPr>
            <a:r>
              <a:rPr sz="1700">
                <a:solidFill>
                  <a:srgbClr val="0F1418"/>
                </a:solidFill>
                <a:latin typeface="Arial"/>
              </a:rPr>
              <a:t>Посчитать их по всем данным сразу — это утечка, занятие четыре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29107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1100" b="0">
                <a:solidFill>
                  <a:srgbClr val="6B7280"/>
                </a:solidFill>
                <a:latin typeface="Arial"/>
              </a:rPr>
              <a:t>Занятие 1 · Введение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54335" y="629107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buNone/>
            </a:pPr>
            <a:r>
              <a:rPr sz="1100" b="0">
                <a:solidFill>
                  <a:srgbClr val="6B7280"/>
                </a:solidFill>
                <a:latin typeface="Arial"/>
              </a:rPr>
              <a:t>33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94360"/>
            <a:ext cx="105457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1300" b="1">
                <a:solidFill>
                  <a:srgbClr val="0072CE"/>
                </a:solidFill>
                <a:latin typeface="Arial"/>
              </a:rPr>
              <a:t>ШАГ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60120"/>
            <a:ext cx="1054577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3200" b="1">
                <a:solidFill>
                  <a:srgbClr val="0F1418"/>
                </a:solidFill>
                <a:latin typeface="Arial"/>
              </a:rPr>
              <a:t>Что изменилось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673352"/>
            <a:ext cx="1463040" cy="508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scale_step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7636" y="2103120"/>
            <a:ext cx="10476423" cy="373075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6089904"/>
            <a:ext cx="10545775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28600" indent="-228600">
              <a:lnSpc>
                <a:spcPct val="135000"/>
              </a:lnSpc>
              <a:spcAft>
                <a:spcPts val="1000"/>
              </a:spcAft>
              <a:buClr>
                <a:srgbClr val="0072CE"/>
              </a:buClr>
              <a:buSzPts val="930"/>
              <a:buFont typeface="Arial"/>
              <a:buChar char="▪"/>
            </a:pPr>
            <a:r>
              <a:rPr sz="1500">
                <a:solidFill>
                  <a:srgbClr val="0F1418"/>
                </a:solidFill>
                <a:latin typeface="Arial"/>
              </a:rPr>
              <a:t>Теперь каждый признак имеет равный голос в расстоянии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29107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1100" b="0">
                <a:solidFill>
                  <a:srgbClr val="6B7280"/>
                </a:solidFill>
                <a:latin typeface="Arial"/>
              </a:rPr>
              <a:t>Занятие 1 · Введение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54335" y="629107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buNone/>
            </a:pPr>
            <a:r>
              <a:rPr sz="1100" b="0">
                <a:solidFill>
                  <a:srgbClr val="6B7280"/>
                </a:solidFill>
                <a:latin typeface="Arial"/>
              </a:rPr>
              <a:t>34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234440"/>
            <a:ext cx="105457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1300" b="1">
                <a:solidFill>
                  <a:srgbClr val="4DA3E0"/>
                </a:solidFill>
                <a:latin typeface="Arial"/>
              </a:rPr>
              <a:t>ШАГ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10545775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12000" b="1">
                <a:solidFill>
                  <a:srgbClr val="FFFFFF"/>
                </a:solidFill>
                <a:latin typeface="Arial"/>
              </a:rPr>
              <a:t>0.72 → 0.94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931920"/>
            <a:ext cx="1463040" cy="508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4343400"/>
            <a:ext cx="10545775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2200" b="0">
                <a:solidFill>
                  <a:srgbClr val="4DA3E0"/>
                </a:solidFill>
                <a:latin typeface="Arial"/>
              </a:rPr>
              <a:t>во что превращается качество kNN на настоящих данных после одной строки со стандартизацией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29107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1100" b="0">
                <a:solidFill>
                  <a:srgbClr val="4DA3E0"/>
                </a:solidFill>
                <a:latin typeface="Arial"/>
              </a:rPr>
              <a:t>Занятие 1 · Введение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54335" y="629107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buNone/>
            </a:pPr>
            <a:r>
              <a:rPr sz="1100" b="0">
                <a:solidFill>
                  <a:srgbClr val="4DA3E0"/>
                </a:solidFill>
                <a:latin typeface="Arial"/>
              </a:rPr>
              <a:t>35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94360"/>
            <a:ext cx="1054577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3200" b="1">
                <a:solidFill>
                  <a:srgbClr val="0F1418"/>
                </a:solidFill>
                <a:latin typeface="Arial"/>
              </a:rPr>
              <a:t>Слабое место метода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307592"/>
            <a:ext cx="1463040" cy="508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knn_cur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17180" y="1737360"/>
            <a:ext cx="7757334" cy="373075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5724143"/>
            <a:ext cx="10545775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28600" indent="-228600">
              <a:lnSpc>
                <a:spcPct val="135000"/>
              </a:lnSpc>
              <a:spcAft>
                <a:spcPts val="1000"/>
              </a:spcAft>
              <a:buClr>
                <a:srgbClr val="0072CE"/>
              </a:buClr>
              <a:buSzPts val="930"/>
              <a:buFont typeface="Arial"/>
              <a:buChar char="▪"/>
            </a:pPr>
            <a:r>
              <a:rPr sz="1500">
                <a:solidFill>
                  <a:srgbClr val="0F1418"/>
                </a:solidFill>
                <a:latin typeface="Arial"/>
              </a:rPr>
              <a:t>Восемьсот шумовых признаков роняют kNN почти до уровня угадывания. Наивный Байес держится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29107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1100" b="0">
                <a:solidFill>
                  <a:srgbClr val="6B7280"/>
                </a:solidFill>
                <a:latin typeface="Arial"/>
              </a:rPr>
              <a:t>Занятие 1 · Введение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54335" y="629107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buNone/>
            </a:pPr>
            <a:r>
              <a:rPr sz="1100" b="0">
                <a:solidFill>
                  <a:srgbClr val="6B7280"/>
                </a:solidFill>
                <a:latin typeface="Arial"/>
              </a:rPr>
              <a:t>36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mblem_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14255" y="4480560"/>
            <a:ext cx="1371600" cy="1371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182880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9000" b="1">
                <a:solidFill>
                  <a:srgbClr val="FFFFFF"/>
                </a:solidFill>
                <a:latin typeface="Arial"/>
              </a:rPr>
              <a:t>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383280"/>
            <a:ext cx="96012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buNone/>
            </a:pPr>
            <a:r>
              <a:rPr sz="4000" b="1">
                <a:solidFill>
                  <a:srgbClr val="FFFFFF"/>
                </a:solidFill>
                <a:latin typeface="Arial"/>
              </a:rPr>
              <a:t>Наивный Байес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572000"/>
            <a:ext cx="9601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buNone/>
            </a:pPr>
            <a:r>
              <a:rPr sz="1800" b="0">
                <a:solidFill>
                  <a:srgbClr val="FFFFFF"/>
                </a:solidFill>
                <a:latin typeface="Arial"/>
              </a:rPr>
              <a:t>метод, устроенный ровно наоборот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94360"/>
            <a:ext cx="1054577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3200" b="1">
                <a:solidFill>
                  <a:srgbClr val="0F1418"/>
                </a:solidFill>
                <a:latin typeface="Arial"/>
              </a:rPr>
              <a:t>Напоминание из теории вероятностей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307592"/>
            <a:ext cx="1463040" cy="508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probability_rec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47640" y="1737360"/>
            <a:ext cx="7096415" cy="37307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5724144"/>
            <a:ext cx="10545775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28600" indent="-228600">
              <a:lnSpc>
                <a:spcPct val="135000"/>
              </a:lnSpc>
              <a:spcAft>
                <a:spcPts val="1000"/>
              </a:spcAft>
              <a:buClr>
                <a:srgbClr val="0072CE"/>
              </a:buClr>
              <a:buSzPts val="930"/>
              <a:buFont typeface="Arial"/>
              <a:buChar char="▪"/>
            </a:pPr>
            <a:r>
              <a:rPr sz="1500">
                <a:solidFill>
                  <a:srgbClr val="0F1418"/>
                </a:solidFill>
                <a:latin typeface="Arial"/>
              </a:rPr>
              <a:t>Четыре факта, без которых дальше не разобраться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29107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1100" b="0">
                <a:solidFill>
                  <a:srgbClr val="6B7280"/>
                </a:solidFill>
                <a:latin typeface="Arial"/>
              </a:rPr>
              <a:t>Занятие 1 · Введение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54335" y="629107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buNone/>
            </a:pPr>
            <a:r>
              <a:rPr sz="1100" b="0">
                <a:solidFill>
                  <a:srgbClr val="6B7280"/>
                </a:solidFill>
                <a:latin typeface="Arial"/>
              </a:rPr>
              <a:t>37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94360"/>
            <a:ext cx="1054577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3200" b="1">
                <a:solidFill>
                  <a:srgbClr val="0F1418"/>
                </a:solidFill>
                <a:latin typeface="Arial"/>
              </a:rPr>
              <a:t>Теорема Байеса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307592"/>
            <a:ext cx="1463040" cy="508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_bay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57778" y="1737360"/>
            <a:ext cx="7276138" cy="1828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3886200"/>
            <a:ext cx="10545775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28600" indent="-228600">
              <a:lnSpc>
                <a:spcPct val="135000"/>
              </a:lnSpc>
              <a:spcAft>
                <a:spcPts val="1000"/>
              </a:spcAft>
              <a:buClr>
                <a:srgbClr val="0072CE"/>
              </a:buClr>
              <a:buSzPts val="1054"/>
              <a:buFont typeface="Arial"/>
              <a:buChar char="▪"/>
            </a:pPr>
            <a:r>
              <a:rPr sz="1700">
                <a:solidFill>
                  <a:srgbClr val="0F1418"/>
                </a:solidFill>
                <a:latin typeface="Arial"/>
              </a:rPr>
              <a:t>Слева апостериорная вероятность: насколько вероятен класс, если объект уже наблюдался</a:t>
            </a:r>
          </a:p>
          <a:p>
            <a:pPr marL="228600" indent="-228600">
              <a:lnSpc>
                <a:spcPct val="135000"/>
              </a:lnSpc>
              <a:spcAft>
                <a:spcPts val="1000"/>
              </a:spcAft>
              <a:buClr>
                <a:srgbClr val="0072CE"/>
              </a:buClr>
              <a:buSzPts val="1054"/>
              <a:buFont typeface="Arial"/>
              <a:buChar char="▪"/>
            </a:pPr>
            <a:r>
              <a:rPr sz="1700">
                <a:solidFill>
                  <a:srgbClr val="0F1418"/>
                </a:solidFill>
                <a:latin typeface="Arial"/>
              </a:rPr>
              <a:t>P(y) — априорная вероятность класса, оценивается его долей в выборке</a:t>
            </a:r>
          </a:p>
          <a:p>
            <a:pPr marL="228600" indent="-228600">
              <a:lnSpc>
                <a:spcPct val="135000"/>
              </a:lnSpc>
              <a:spcAft>
                <a:spcPts val="1000"/>
              </a:spcAft>
              <a:buClr>
                <a:srgbClr val="0072CE"/>
              </a:buClr>
              <a:buSzPts val="1054"/>
              <a:buFont typeface="Arial"/>
              <a:buChar char="▪"/>
            </a:pPr>
            <a:r>
              <a:rPr sz="1700">
                <a:solidFill>
                  <a:srgbClr val="0F1418"/>
                </a:solidFill>
                <a:latin typeface="Arial"/>
              </a:rPr>
              <a:t>P(x | y) — правдоподобие: насколько типичен такой объект для класса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29107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1100" b="0">
                <a:solidFill>
                  <a:srgbClr val="6B7280"/>
                </a:solidFill>
                <a:latin typeface="Arial"/>
              </a:rPr>
              <a:t>Занятие 1 · Введение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54335" y="629107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buNone/>
            </a:pPr>
            <a:r>
              <a:rPr sz="1100" b="0">
                <a:solidFill>
                  <a:srgbClr val="6B7280"/>
                </a:solidFill>
                <a:latin typeface="Arial"/>
              </a:rPr>
              <a:t>38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94360"/>
            <a:ext cx="105457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1300" b="1">
                <a:solidFill>
                  <a:srgbClr val="0072CE"/>
                </a:solidFill>
                <a:latin typeface="Arial"/>
              </a:rPr>
              <a:t>ТОТ САМЫЙ ПЕРЕХОД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60120"/>
            <a:ext cx="1054577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3200" b="1">
                <a:solidFill>
                  <a:srgbClr val="0F1418"/>
                </a:solidFill>
                <a:latin typeface="Arial"/>
              </a:rPr>
              <a:t>От вероятностей к ответу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673352"/>
            <a:ext cx="1463040" cy="508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_decision_ru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62326" y="2103120"/>
            <a:ext cx="3867043" cy="18288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4251960"/>
            <a:ext cx="10545775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28600" indent="-228600">
              <a:lnSpc>
                <a:spcPct val="135000"/>
              </a:lnSpc>
              <a:spcAft>
                <a:spcPts val="1000"/>
              </a:spcAft>
              <a:buClr>
                <a:srgbClr val="0072CE"/>
              </a:buClr>
              <a:buSzPts val="1054"/>
              <a:buFont typeface="Arial"/>
              <a:buChar char="▪"/>
            </a:pPr>
            <a:r>
              <a:rPr sz="1700">
                <a:solidFill>
                  <a:srgbClr val="0F1418"/>
                </a:solidFill>
                <a:latin typeface="Arial"/>
              </a:rPr>
              <a:t>Теорема дает вероятность каждого класса, а нужен один ответ</a:t>
            </a:r>
          </a:p>
          <a:p>
            <a:pPr marL="228600" indent="-228600">
              <a:lnSpc>
                <a:spcPct val="135000"/>
              </a:lnSpc>
              <a:spcAft>
                <a:spcPts val="1000"/>
              </a:spcAft>
              <a:buClr>
                <a:srgbClr val="0072CE"/>
              </a:buClr>
              <a:buSzPts val="1054"/>
              <a:buFont typeface="Arial"/>
              <a:buChar char="▪"/>
            </a:pPr>
            <a:r>
              <a:rPr sz="1700">
                <a:solidFill>
                  <a:srgbClr val="0F1418"/>
                </a:solidFill>
                <a:latin typeface="Arial"/>
              </a:rPr>
              <a:t>Берем класс с наибольшей вероятностью, это и есть наша a(x)</a:t>
            </a:r>
          </a:p>
          <a:p>
            <a:pPr marL="228600" indent="-228600">
              <a:lnSpc>
                <a:spcPct val="135000"/>
              </a:lnSpc>
              <a:spcAft>
                <a:spcPts val="1000"/>
              </a:spcAft>
              <a:buClr>
                <a:srgbClr val="0072CE"/>
              </a:buClr>
              <a:buSzPts val="1054"/>
              <a:buFont typeface="Arial"/>
              <a:buChar char="▪"/>
            </a:pPr>
            <a:r>
              <a:rPr sz="1700">
                <a:solidFill>
                  <a:srgbClr val="0F1418"/>
                </a:solidFill>
                <a:latin typeface="Arial"/>
              </a:rPr>
              <a:t>Знаменатель P(x) одинаков для всех классов и на выбор не влияет</a:t>
            </a:r>
          </a:p>
          <a:p>
            <a:pPr marL="228600" indent="-228600">
              <a:lnSpc>
                <a:spcPct val="135000"/>
              </a:lnSpc>
              <a:spcAft>
                <a:spcPts val="1000"/>
              </a:spcAft>
              <a:buClr>
                <a:srgbClr val="0072CE"/>
              </a:buClr>
              <a:buSzPts val="1054"/>
              <a:buFont typeface="Arial"/>
              <a:buChar char="▪"/>
            </a:pPr>
            <a:r>
              <a:rPr sz="1700">
                <a:solidFill>
                  <a:srgbClr val="0F1418"/>
                </a:solidFill>
                <a:latin typeface="Arial"/>
              </a:rPr>
              <a:t>Значит его можно не считать вовсе: сравниваем только числители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29107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1100" b="0">
                <a:solidFill>
                  <a:srgbClr val="6B7280"/>
                </a:solidFill>
                <a:latin typeface="Arial"/>
              </a:rPr>
              <a:t>Занятие 1 · Введение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54335" y="629107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buNone/>
            </a:pPr>
            <a:r>
              <a:rPr sz="1100" b="0">
                <a:solidFill>
                  <a:srgbClr val="6B7280"/>
                </a:solidFill>
                <a:latin typeface="Arial"/>
              </a:rPr>
              <a:t>39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94360"/>
            <a:ext cx="1054577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3200" b="1">
                <a:solidFill>
                  <a:srgbClr val="0F1418"/>
                </a:solidFill>
                <a:latin typeface="Arial"/>
              </a:rPr>
              <a:t>В чем наивность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307592"/>
            <a:ext cx="1463040" cy="508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_nb_ru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75906" y="1737360"/>
            <a:ext cx="8039883" cy="1828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3886200"/>
            <a:ext cx="10545775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28600" indent="-228600">
              <a:lnSpc>
                <a:spcPct val="135000"/>
              </a:lnSpc>
              <a:spcAft>
                <a:spcPts val="1000"/>
              </a:spcAft>
              <a:buClr>
                <a:srgbClr val="0072CE"/>
              </a:buClr>
              <a:buSzPts val="1054"/>
              <a:buFont typeface="Arial"/>
              <a:buChar char="▪"/>
            </a:pPr>
            <a:r>
              <a:rPr sz="1700">
                <a:solidFill>
                  <a:srgbClr val="0F1418"/>
                </a:solidFill>
                <a:latin typeface="Arial"/>
              </a:rPr>
              <a:t>Правдоподобие это совместное распределение всех признаков сразу</a:t>
            </a:r>
          </a:p>
          <a:p>
            <a:pPr marL="228600" indent="-228600">
              <a:lnSpc>
                <a:spcPct val="135000"/>
              </a:lnSpc>
              <a:spcAft>
                <a:spcPts val="1000"/>
              </a:spcAft>
              <a:buClr>
                <a:srgbClr val="0072CE"/>
              </a:buClr>
              <a:buSzPts val="1054"/>
              <a:buFont typeface="Arial"/>
              <a:buChar char="▪"/>
            </a:pPr>
            <a:r>
              <a:rPr sz="1700">
                <a:solidFill>
                  <a:srgbClr val="0F1418"/>
                </a:solidFill>
                <a:latin typeface="Arial"/>
              </a:rPr>
              <a:t>Оценить его по выборке нельзя: комбинаций больше, чем объектов</a:t>
            </a:r>
          </a:p>
          <a:p>
            <a:pPr marL="228600" indent="-228600">
              <a:lnSpc>
                <a:spcPct val="135000"/>
              </a:lnSpc>
              <a:spcAft>
                <a:spcPts val="1000"/>
              </a:spcAft>
              <a:buClr>
                <a:srgbClr val="0072CE"/>
              </a:buClr>
              <a:buSzPts val="1054"/>
              <a:buFont typeface="Arial"/>
              <a:buChar char="▪"/>
            </a:pPr>
            <a:r>
              <a:rPr sz="1700">
                <a:solidFill>
                  <a:srgbClr val="0F1418"/>
                </a:solidFill>
                <a:latin typeface="Arial"/>
              </a:rPr>
              <a:t>Метод предполагает независимость признаков внутри класса</a:t>
            </a:r>
          </a:p>
          <a:p>
            <a:pPr marL="228600" indent="-228600">
              <a:lnSpc>
                <a:spcPct val="135000"/>
              </a:lnSpc>
              <a:spcAft>
                <a:spcPts val="1000"/>
              </a:spcAft>
              <a:buClr>
                <a:srgbClr val="0072CE"/>
              </a:buClr>
              <a:buSzPts val="1054"/>
              <a:buFont typeface="Arial"/>
              <a:buChar char="▪"/>
            </a:pPr>
            <a:r>
              <a:rPr sz="1700">
                <a:solidFill>
                  <a:srgbClr val="0F1418"/>
                </a:solidFill>
                <a:latin typeface="Arial"/>
              </a:rPr>
              <a:t>Тогда совместная вероятность распадается в произведение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29107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1100" b="0">
                <a:solidFill>
                  <a:srgbClr val="6B7280"/>
                </a:solidFill>
                <a:latin typeface="Arial"/>
              </a:rPr>
              <a:t>Занятие 1 · Введение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54335" y="629107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buNone/>
            </a:pPr>
            <a:r>
              <a:rPr sz="1100" b="0">
                <a:solidFill>
                  <a:srgbClr val="6B7280"/>
                </a:solidFill>
                <a:latin typeface="Arial"/>
              </a:rPr>
              <a:t>40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94360"/>
            <a:ext cx="1054577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3200" b="1">
                <a:solidFill>
                  <a:srgbClr val="0F1418"/>
                </a:solidFill>
                <a:latin typeface="Arial"/>
              </a:rPr>
              <a:t>Гауссовский вариант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307592"/>
            <a:ext cx="1463040" cy="508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_gau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04919" y="1737360"/>
            <a:ext cx="6981856" cy="1828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3886200"/>
            <a:ext cx="10545775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28600" indent="-228600">
              <a:lnSpc>
                <a:spcPct val="135000"/>
              </a:lnSpc>
              <a:spcAft>
                <a:spcPts val="1000"/>
              </a:spcAft>
              <a:buClr>
                <a:srgbClr val="0072CE"/>
              </a:buClr>
              <a:buSzPts val="1054"/>
              <a:buFont typeface="Arial"/>
              <a:buChar char="▪"/>
            </a:pPr>
            <a:r>
              <a:rPr sz="1700">
                <a:solidFill>
                  <a:srgbClr val="0F1418"/>
                </a:solidFill>
                <a:latin typeface="Arial"/>
              </a:rPr>
              <a:t>Для числовых признаков берем нормальное распределение внутри класса</a:t>
            </a:r>
          </a:p>
          <a:p>
            <a:pPr marL="228600" indent="-228600">
              <a:lnSpc>
                <a:spcPct val="135000"/>
              </a:lnSpc>
              <a:spcAft>
                <a:spcPts val="1000"/>
              </a:spcAft>
              <a:buClr>
                <a:srgbClr val="0072CE"/>
              </a:buClr>
              <a:buSzPts val="1054"/>
              <a:buFont typeface="Arial"/>
              <a:buChar char="▪"/>
            </a:pPr>
            <a:r>
              <a:rPr sz="1700">
                <a:solidFill>
                  <a:srgbClr val="0F1418"/>
                </a:solidFill>
                <a:latin typeface="Arial"/>
              </a:rPr>
              <a:t>Тогда обучение сводится к подсчету средних и дисперсий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29107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1100" b="0">
                <a:solidFill>
                  <a:srgbClr val="6B7280"/>
                </a:solidFill>
                <a:latin typeface="Arial"/>
              </a:rPr>
              <a:t>Занятие 1 · Введение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54335" y="629107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buNone/>
            </a:pPr>
            <a:r>
              <a:rPr sz="1100" b="0">
                <a:solidFill>
                  <a:srgbClr val="6B7280"/>
                </a:solidFill>
                <a:latin typeface="Arial"/>
              </a:rPr>
              <a:t>41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94360"/>
            <a:ext cx="1054577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3200" b="1">
                <a:solidFill>
                  <a:srgbClr val="0F1418"/>
                </a:solidFill>
                <a:latin typeface="Arial"/>
              </a:rPr>
              <a:t>Вся модель: три набора чисел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307592"/>
            <a:ext cx="1463040" cy="508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_nb_param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69481" y="1737360"/>
            <a:ext cx="1852733" cy="182879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3886199"/>
            <a:ext cx="10545775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28600" indent="-228600">
              <a:lnSpc>
                <a:spcPct val="135000"/>
              </a:lnSpc>
              <a:spcAft>
                <a:spcPts val="1000"/>
              </a:spcAft>
              <a:buClr>
                <a:srgbClr val="0072CE"/>
              </a:buClr>
              <a:buSzPts val="1054"/>
              <a:buFont typeface="Arial"/>
              <a:buChar char="▪"/>
            </a:pPr>
            <a:r>
              <a:rPr sz="1700">
                <a:solidFill>
                  <a:srgbClr val="0F1418"/>
                </a:solidFill>
                <a:latin typeface="Arial"/>
              </a:rPr>
              <a:t>Доля класса, среднее и дисперсия каждого признака внутри класса</a:t>
            </a:r>
          </a:p>
          <a:p>
            <a:pPr marL="228600" indent="-228600">
              <a:lnSpc>
                <a:spcPct val="135000"/>
              </a:lnSpc>
              <a:spcAft>
                <a:spcPts val="1000"/>
              </a:spcAft>
              <a:buClr>
                <a:srgbClr val="0072CE"/>
              </a:buClr>
              <a:buSzPts val="1054"/>
              <a:buFont typeface="Arial"/>
              <a:buChar char="▪"/>
            </a:pPr>
            <a:r>
              <a:rPr sz="1700">
                <a:solidFill>
                  <a:srgbClr val="0F1418"/>
                </a:solidFill>
                <a:latin typeface="Arial"/>
              </a:rPr>
              <a:t>Для трех классов и тринадцати признаков это 78 чисел плюс 3 доли</a:t>
            </a:r>
          </a:p>
          <a:p>
            <a:pPr marL="228600" indent="-228600">
              <a:lnSpc>
                <a:spcPct val="135000"/>
              </a:lnSpc>
              <a:spcAft>
                <a:spcPts val="1000"/>
              </a:spcAft>
              <a:buClr>
                <a:srgbClr val="0072CE"/>
              </a:buClr>
              <a:buSzPts val="1054"/>
              <a:buFont typeface="Arial"/>
              <a:buChar char="▪"/>
            </a:pPr>
            <a:r>
              <a:rPr sz="1700">
                <a:solidFill>
                  <a:srgbClr val="0F1418"/>
                </a:solidFill>
                <a:latin typeface="Arial"/>
              </a:rPr>
              <a:t>Обучающая выборка после этого не нужна и выбрасывается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29107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1100" b="0">
                <a:solidFill>
                  <a:srgbClr val="6B7280"/>
                </a:solidFill>
                <a:latin typeface="Arial"/>
              </a:rPr>
              <a:t>Занятие 1 · Введение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54335" y="629107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buNone/>
            </a:pPr>
            <a:r>
              <a:rPr sz="1100" b="0">
                <a:solidFill>
                  <a:srgbClr val="6B7280"/>
                </a:solidFill>
                <a:latin typeface="Arial"/>
              </a:rPr>
              <a:t>42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94360"/>
            <a:ext cx="1054577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3200" b="1">
                <a:solidFill>
                  <a:srgbClr val="0F1418"/>
                </a:solidFill>
                <a:latin typeface="Arial"/>
              </a:rPr>
              <a:t>Что метод выучил на наших винах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307592"/>
            <a:ext cx="1463040" cy="508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nb_densit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737360"/>
            <a:ext cx="10545775" cy="320382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5197219"/>
            <a:ext cx="10545775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28600" indent="-228600">
              <a:lnSpc>
                <a:spcPct val="135000"/>
              </a:lnSpc>
              <a:spcAft>
                <a:spcPts val="1000"/>
              </a:spcAft>
              <a:buClr>
                <a:srgbClr val="0072CE"/>
              </a:buClr>
              <a:buSzPts val="930"/>
              <a:buFont typeface="Arial"/>
              <a:buChar char="▪"/>
            </a:pPr>
            <a:r>
              <a:rPr sz="1500">
                <a:solidFill>
                  <a:srgbClr val="0F1418"/>
                </a:solidFill>
                <a:latin typeface="Arial"/>
              </a:rPr>
              <a:t>Три признака из тринадцати. По горизонтали значение признака, по вертикали плотность. Столбики это 124 обучающих вина, кривые это то, чем метод их заменил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29107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1100" b="0">
                <a:solidFill>
                  <a:srgbClr val="6B7280"/>
                </a:solidFill>
                <a:latin typeface="Arial"/>
              </a:rPr>
              <a:t>Занятие 1 · Введение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54335" y="629107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buNone/>
            </a:pPr>
            <a:r>
              <a:rPr sz="1100" b="0">
                <a:solidFill>
                  <a:srgbClr val="6B7280"/>
                </a:solidFill>
                <a:latin typeface="Arial"/>
              </a:rPr>
              <a:t>43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94360"/>
            <a:ext cx="1054577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3200" b="1">
                <a:solidFill>
                  <a:srgbClr val="0F1418"/>
                </a:solidFill>
                <a:latin typeface="Arial"/>
              </a:rPr>
              <a:t>Две границы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307592"/>
            <a:ext cx="1463040" cy="508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nb_vs_kn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3477" y="1737360"/>
            <a:ext cx="9224741" cy="37307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5724144"/>
            <a:ext cx="10545775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28600" indent="-228600">
              <a:lnSpc>
                <a:spcPct val="135000"/>
              </a:lnSpc>
              <a:spcAft>
                <a:spcPts val="1000"/>
              </a:spcAft>
              <a:buClr>
                <a:srgbClr val="0072CE"/>
              </a:buClr>
              <a:buSzPts val="930"/>
              <a:buFont typeface="Arial"/>
              <a:buChar char="▪"/>
            </a:pPr>
            <a:r>
              <a:rPr sz="1500">
                <a:solidFill>
                  <a:srgbClr val="0F1418"/>
                </a:solidFill>
                <a:latin typeface="Arial"/>
              </a:rPr>
              <a:t>Слева безошибочная память и рваная граница, справа гладкая граница и ошибки уже на обучающей выборке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29107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1100" b="0">
                <a:solidFill>
                  <a:srgbClr val="6B7280"/>
                </a:solidFill>
                <a:latin typeface="Arial"/>
              </a:rPr>
              <a:t>Занятие 1 · Введение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54335" y="629107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buNone/>
            </a:pPr>
            <a:r>
              <a:rPr sz="1100" b="0">
                <a:solidFill>
                  <a:srgbClr val="6B7280"/>
                </a:solidFill>
                <a:latin typeface="Arial"/>
              </a:rPr>
              <a:t>44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94360"/>
            <a:ext cx="1054577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3200" b="1">
                <a:solidFill>
                  <a:srgbClr val="0F1418"/>
                </a:solidFill>
                <a:latin typeface="Arial"/>
              </a:rPr>
              <a:t>Два метода, две крайности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307592"/>
            <a:ext cx="1463040" cy="508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22960" y="1737360"/>
            <a:ext cx="4998567" cy="3566160"/>
          </a:xfrm>
          <a:prstGeom prst="rect">
            <a:avLst/>
          </a:prstGeom>
          <a:solidFill>
            <a:srgbClr val="E6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1737360"/>
            <a:ext cx="4998567" cy="508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057400"/>
            <a:ext cx="4358487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2000" b="1">
                <a:solidFill>
                  <a:srgbClr val="0F1418"/>
                </a:solidFill>
                <a:latin typeface="Arial"/>
              </a:rPr>
              <a:t>kNN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4358487" cy="237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28600" indent="-228600">
              <a:lnSpc>
                <a:spcPct val="135000"/>
              </a:lnSpc>
              <a:spcAft>
                <a:spcPts val="1000"/>
              </a:spcAft>
              <a:buClr>
                <a:srgbClr val="0072CE"/>
              </a:buClr>
              <a:buSzPts val="992"/>
              <a:buFont typeface="Arial"/>
              <a:buChar char="▪"/>
            </a:pPr>
            <a:r>
              <a:rPr sz="1600">
                <a:solidFill>
                  <a:srgbClr val="0F1418"/>
                </a:solidFill>
                <a:latin typeface="Arial"/>
              </a:rPr>
              <a:t>Ничего не вычисляет заранее</a:t>
            </a:r>
          </a:p>
          <a:p>
            <a:pPr marL="228600" indent="-228600">
              <a:lnSpc>
                <a:spcPct val="135000"/>
              </a:lnSpc>
              <a:spcAft>
                <a:spcPts val="1000"/>
              </a:spcAft>
              <a:buClr>
                <a:srgbClr val="0072CE"/>
              </a:buClr>
              <a:buSzPts val="992"/>
              <a:buFont typeface="Arial"/>
              <a:buChar char="▪"/>
            </a:pPr>
            <a:r>
              <a:rPr sz="1600">
                <a:solidFill>
                  <a:srgbClr val="0F1418"/>
                </a:solidFill>
                <a:latin typeface="Arial"/>
              </a:rPr>
              <a:t>Хранит всю выборку</a:t>
            </a:r>
          </a:p>
          <a:p>
            <a:pPr marL="228600" indent="-228600">
              <a:lnSpc>
                <a:spcPct val="135000"/>
              </a:lnSpc>
              <a:spcAft>
                <a:spcPts val="1000"/>
              </a:spcAft>
              <a:buClr>
                <a:srgbClr val="0072CE"/>
              </a:buClr>
              <a:buSzPts val="992"/>
              <a:buFont typeface="Arial"/>
              <a:buChar char="▪"/>
            </a:pPr>
            <a:r>
              <a:rPr sz="1600">
                <a:solidFill>
                  <a:srgbClr val="0F1418"/>
                </a:solidFill>
                <a:latin typeface="Arial"/>
              </a:rPr>
              <a:t>Ломается от масштаба и лишних признаков</a:t>
            </a:r>
          </a:p>
        </p:txBody>
      </p:sp>
      <p:sp>
        <p:nvSpPr>
          <p:cNvPr id="9" name="Rectangle 8"/>
          <p:cNvSpPr/>
          <p:nvPr/>
        </p:nvSpPr>
        <p:spPr>
          <a:xfrm>
            <a:off x="6370167" y="1737360"/>
            <a:ext cx="4998567" cy="3566160"/>
          </a:xfrm>
          <a:prstGeom prst="rect">
            <a:avLst/>
          </a:prstGeom>
          <a:solidFill>
            <a:srgbClr val="E6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370167" y="1737360"/>
            <a:ext cx="4998567" cy="508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90207" y="2057400"/>
            <a:ext cx="4358487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2000" b="1">
                <a:solidFill>
                  <a:srgbClr val="0F1418"/>
                </a:solidFill>
                <a:latin typeface="Arial"/>
              </a:rPr>
              <a:t>Наивный Байес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90207" y="2651760"/>
            <a:ext cx="4358487" cy="237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28600" indent="-228600">
              <a:lnSpc>
                <a:spcPct val="135000"/>
              </a:lnSpc>
              <a:spcAft>
                <a:spcPts val="1000"/>
              </a:spcAft>
              <a:buClr>
                <a:srgbClr val="0072CE"/>
              </a:buClr>
              <a:buSzPts val="992"/>
              <a:buFont typeface="Arial"/>
              <a:buChar char="▪"/>
            </a:pPr>
            <a:r>
              <a:rPr sz="1600">
                <a:solidFill>
                  <a:srgbClr val="0F1418"/>
                </a:solidFill>
                <a:latin typeface="Arial"/>
              </a:rPr>
              <a:t>Считает несколько чисел</a:t>
            </a:r>
          </a:p>
          <a:p>
            <a:pPr marL="228600" indent="-228600">
              <a:lnSpc>
                <a:spcPct val="135000"/>
              </a:lnSpc>
              <a:spcAft>
                <a:spcPts val="1000"/>
              </a:spcAft>
              <a:buClr>
                <a:srgbClr val="0072CE"/>
              </a:buClr>
              <a:buSzPts val="992"/>
              <a:buFont typeface="Arial"/>
              <a:buChar char="▪"/>
            </a:pPr>
            <a:r>
              <a:rPr sz="1600">
                <a:solidFill>
                  <a:srgbClr val="0F1418"/>
                </a:solidFill>
                <a:latin typeface="Arial"/>
              </a:rPr>
              <a:t>Выборку выбрасывает</a:t>
            </a:r>
          </a:p>
          <a:p>
            <a:pPr marL="228600" indent="-228600">
              <a:lnSpc>
                <a:spcPct val="135000"/>
              </a:lnSpc>
              <a:spcAft>
                <a:spcPts val="1000"/>
              </a:spcAft>
              <a:buClr>
                <a:srgbClr val="0072CE"/>
              </a:buClr>
              <a:buSzPts val="992"/>
              <a:buFont typeface="Arial"/>
              <a:buChar char="▪"/>
            </a:pPr>
            <a:r>
              <a:rPr sz="1600">
                <a:solidFill>
                  <a:srgbClr val="0F1418"/>
                </a:solidFill>
                <a:latin typeface="Arial"/>
              </a:rPr>
              <a:t>Масштаб ему безразличен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629107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1100" b="0">
                <a:solidFill>
                  <a:srgbClr val="6B7280"/>
                </a:solidFill>
                <a:latin typeface="Arial"/>
              </a:rPr>
              <a:t>Занятие 1 · Введение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54335" y="629107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buNone/>
            </a:pPr>
            <a:r>
              <a:rPr sz="1100" b="0">
                <a:solidFill>
                  <a:srgbClr val="6B7280"/>
                </a:solidFill>
                <a:latin typeface="Arial"/>
              </a:rPr>
              <a:t>45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mblem_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14255" y="4480560"/>
            <a:ext cx="1371600" cy="1371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182880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9000" b="1">
                <a:solidFill>
                  <a:srgbClr val="FFFFFF"/>
                </a:solidFill>
                <a:latin typeface="Arial"/>
              </a:rPr>
              <a:t>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383280"/>
            <a:ext cx="96012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buNone/>
            </a:pPr>
            <a:r>
              <a:rPr sz="4000" b="1">
                <a:solidFill>
                  <a:srgbClr val="FFFFFF"/>
                </a:solidFill>
                <a:latin typeface="Arial"/>
              </a:rPr>
              <a:t>Как понять, что модель работает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572000"/>
            <a:ext cx="9601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buNone/>
            </a:pPr>
            <a:r>
              <a:rPr sz="1800" b="0">
                <a:solidFill>
                  <a:srgbClr val="FFFFFF"/>
                </a:solidFill>
                <a:latin typeface="Arial"/>
              </a:rPr>
              <a:t>и почему одной цифры не хватает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94360"/>
            <a:ext cx="1054577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3200" b="1">
                <a:solidFill>
                  <a:srgbClr val="0F1418"/>
                </a:solidFill>
                <a:latin typeface="Arial"/>
              </a:rPr>
              <a:t>Accuracy: доля правильных ответов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307592"/>
            <a:ext cx="1463040" cy="508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accuracy_tab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9991" y="1737360"/>
            <a:ext cx="9811713" cy="373075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5724143"/>
            <a:ext cx="10545775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28600" indent="-228600">
              <a:lnSpc>
                <a:spcPct val="135000"/>
              </a:lnSpc>
              <a:spcAft>
                <a:spcPts val="1000"/>
              </a:spcAft>
              <a:buClr>
                <a:srgbClr val="0072CE"/>
              </a:buClr>
              <a:buSzPts val="930"/>
              <a:buFont typeface="Arial"/>
              <a:buChar char="▪"/>
            </a:pPr>
            <a:r>
              <a:rPr sz="1500">
                <a:solidFill>
                  <a:srgbClr val="0F1418"/>
                </a:solidFill>
                <a:latin typeface="Arial"/>
              </a:rPr>
              <a:t>Самая простая метрика: сколько объектов угадали, деленное на то, сколько их всего. Числа посчитаны на наших винах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29107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1100" b="0">
                <a:solidFill>
                  <a:srgbClr val="6B7280"/>
                </a:solidFill>
                <a:latin typeface="Arial"/>
              </a:rPr>
              <a:t>Занятие 1 · Введение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54335" y="629107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buNone/>
            </a:pPr>
            <a:r>
              <a:rPr sz="1100" b="0">
                <a:solidFill>
                  <a:srgbClr val="6B7280"/>
                </a:solidFill>
                <a:latin typeface="Arial"/>
              </a:rPr>
              <a:t>46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94360"/>
            <a:ext cx="1054577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3200" b="1">
                <a:solidFill>
                  <a:srgbClr val="0F1418"/>
                </a:solidFill>
                <a:latin typeface="Arial"/>
              </a:rPr>
              <a:t>Где accuracy перестает работать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307592"/>
            <a:ext cx="1463040" cy="508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accuracy_fai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4553" y="1737360"/>
            <a:ext cx="10222589" cy="373075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5724143"/>
            <a:ext cx="10545775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28600" indent="-228600">
              <a:lnSpc>
                <a:spcPct val="135000"/>
              </a:lnSpc>
              <a:spcAft>
                <a:spcPts val="1000"/>
              </a:spcAft>
              <a:buClr>
                <a:srgbClr val="0072CE"/>
              </a:buClr>
              <a:buSzPts val="930"/>
              <a:buFont typeface="Arial"/>
              <a:buChar char="▪"/>
            </a:pPr>
            <a:r>
              <a:rPr sz="1500">
                <a:solidFill>
                  <a:srgbClr val="0F1418"/>
                </a:solidFill>
                <a:latin typeface="Arial"/>
              </a:rPr>
              <a:t>Как только классы перестают быть равными по размеру, доля правильных ответов говорит о распределении классов, а не о модели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29107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1100" b="0">
                <a:solidFill>
                  <a:srgbClr val="6B7280"/>
                </a:solidFill>
                <a:latin typeface="Arial"/>
              </a:rPr>
              <a:t>Занятие 1 · Введение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54335" y="629107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buNone/>
            </a:pPr>
            <a:r>
              <a:rPr sz="1100" b="0">
                <a:solidFill>
                  <a:srgbClr val="6B7280"/>
                </a:solidFill>
                <a:latin typeface="Arial"/>
              </a:rPr>
              <a:t>47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94360"/>
            <a:ext cx="1054577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3200" b="1">
                <a:solidFill>
                  <a:srgbClr val="0F1418"/>
                </a:solidFill>
                <a:latin typeface="Arial"/>
              </a:rPr>
              <a:t>Матрица ошибок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307592"/>
            <a:ext cx="1463040" cy="508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onfu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38932" y="1737360"/>
            <a:ext cx="6113831" cy="373075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5724143"/>
            <a:ext cx="10545775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28600" indent="-228600">
              <a:lnSpc>
                <a:spcPct val="135000"/>
              </a:lnSpc>
              <a:spcAft>
                <a:spcPts val="1000"/>
              </a:spcAft>
              <a:buClr>
                <a:srgbClr val="0072CE"/>
              </a:buClr>
              <a:buSzPts val="930"/>
              <a:buFont typeface="Arial"/>
              <a:buChar char="▪"/>
            </a:pPr>
            <a:r>
              <a:rPr sz="1500">
                <a:solidFill>
                  <a:srgbClr val="0F1418"/>
                </a:solidFill>
                <a:latin typeface="Arial"/>
              </a:rPr>
              <a:t>Раскладываем предсказания на четыре клетки и смотрим, какие именно ошибки делает модель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29107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1100" b="0">
                <a:solidFill>
                  <a:srgbClr val="6B7280"/>
                </a:solidFill>
                <a:latin typeface="Arial"/>
              </a:rPr>
              <a:t>Занятие 1 · Введение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54335" y="629107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buNone/>
            </a:pPr>
            <a:r>
              <a:rPr sz="1100" b="0">
                <a:solidFill>
                  <a:srgbClr val="6B7280"/>
                </a:solidFill>
                <a:latin typeface="Arial"/>
              </a:rPr>
              <a:t>48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94360"/>
            <a:ext cx="1054577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3200" b="1">
                <a:solidFill>
                  <a:srgbClr val="0F1418"/>
                </a:solidFill>
                <a:latin typeface="Arial"/>
              </a:rPr>
              <a:t>Precision и recall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307592"/>
            <a:ext cx="1463040" cy="508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_prec_re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42033" y="1737360"/>
            <a:ext cx="2707628" cy="1828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3886200"/>
            <a:ext cx="10545775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28600" indent="-228600">
              <a:lnSpc>
                <a:spcPct val="135000"/>
              </a:lnSpc>
              <a:spcAft>
                <a:spcPts val="1000"/>
              </a:spcAft>
              <a:buClr>
                <a:srgbClr val="0072CE"/>
              </a:buClr>
              <a:buSzPts val="1054"/>
              <a:buFont typeface="Arial"/>
              <a:buChar char="▪"/>
            </a:pPr>
            <a:r>
              <a:rPr sz="1700">
                <a:solidFill>
                  <a:srgbClr val="0F1418"/>
                </a:solidFill>
                <a:latin typeface="Arial"/>
              </a:rPr>
              <a:t>Precision: из тех, кого назвали больными, сколько правда больны</a:t>
            </a:r>
          </a:p>
          <a:p>
            <a:pPr marL="228600" indent="-228600">
              <a:lnSpc>
                <a:spcPct val="135000"/>
              </a:lnSpc>
              <a:spcAft>
                <a:spcPts val="1000"/>
              </a:spcAft>
              <a:buClr>
                <a:srgbClr val="0072CE"/>
              </a:buClr>
              <a:buSzPts val="1054"/>
              <a:buFont typeface="Arial"/>
              <a:buChar char="▪"/>
            </a:pPr>
            <a:r>
              <a:rPr sz="1700">
                <a:solidFill>
                  <a:srgbClr val="0F1418"/>
                </a:solidFill>
                <a:latin typeface="Arial"/>
              </a:rPr>
              <a:t>Recall: из всех больных скольких мы нашли</a:t>
            </a:r>
          </a:p>
          <a:p>
            <a:pPr marL="228600" indent="-228600">
              <a:lnSpc>
                <a:spcPct val="135000"/>
              </a:lnSpc>
              <a:spcAft>
                <a:spcPts val="1000"/>
              </a:spcAft>
              <a:buClr>
                <a:srgbClr val="0072CE"/>
              </a:buClr>
              <a:buSzPts val="1054"/>
              <a:buFont typeface="Arial"/>
              <a:buChar char="▪"/>
            </a:pPr>
            <a:r>
              <a:rPr sz="1700">
                <a:solidFill>
                  <a:srgbClr val="0F1418"/>
                </a:solidFill>
                <a:latin typeface="Arial"/>
              </a:rPr>
              <a:t>Между ними всегда компромисс</a:t>
            </a:r>
          </a:p>
          <a:p>
            <a:pPr marL="228600" indent="-228600">
              <a:lnSpc>
                <a:spcPct val="135000"/>
              </a:lnSpc>
              <a:spcAft>
                <a:spcPts val="1000"/>
              </a:spcAft>
              <a:buClr>
                <a:srgbClr val="0072CE"/>
              </a:buClr>
              <a:buSzPts val="1054"/>
              <a:buFont typeface="Arial"/>
              <a:buChar char="▪"/>
            </a:pPr>
            <a:r>
              <a:rPr sz="1700">
                <a:solidFill>
                  <a:srgbClr val="0F1418"/>
                </a:solidFill>
                <a:latin typeface="Arial"/>
              </a:rPr>
              <a:t>Что важнее, определяет задача, а не алгоритм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29107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1100" b="0">
                <a:solidFill>
                  <a:srgbClr val="6B7280"/>
                </a:solidFill>
                <a:latin typeface="Arial"/>
              </a:rPr>
              <a:t>Занятие 1 · Введение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54335" y="629107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buNone/>
            </a:pPr>
            <a:r>
              <a:rPr sz="1100" b="0">
                <a:solidFill>
                  <a:srgbClr val="6B7280"/>
                </a:solidFill>
                <a:latin typeface="Arial"/>
              </a:rPr>
              <a:t>49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94360"/>
            <a:ext cx="1054577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3200" b="1">
                <a:solidFill>
                  <a:srgbClr val="0F1418"/>
                </a:solidFill>
                <a:latin typeface="Arial"/>
              </a:rPr>
              <a:t>Три бесполезные модели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307592"/>
            <a:ext cx="1463040" cy="508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precision_recall_cas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7998" y="1737360"/>
            <a:ext cx="9775699" cy="33467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5340096"/>
            <a:ext cx="10545775" cy="10424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28600" indent="-228600">
              <a:lnSpc>
                <a:spcPct val="135000"/>
              </a:lnSpc>
              <a:spcAft>
                <a:spcPts val="1000"/>
              </a:spcAft>
              <a:buClr>
                <a:srgbClr val="0072CE"/>
              </a:buClr>
              <a:buSzPts val="930"/>
              <a:buFont typeface="Arial"/>
              <a:buChar char="▪"/>
            </a:pPr>
            <a:r>
              <a:rPr sz="1500">
                <a:solidFill>
                  <a:srgbClr val="0F1418"/>
                </a:solidFill>
                <a:latin typeface="Arial"/>
              </a:rPr>
              <a:t>Ни одна не имеет хороших precision и recall одновременно</a:t>
            </a:r>
          </a:p>
          <a:p>
            <a:pPr marL="228600" indent="-228600">
              <a:lnSpc>
                <a:spcPct val="135000"/>
              </a:lnSpc>
              <a:spcAft>
                <a:spcPts val="1000"/>
              </a:spcAft>
              <a:buClr>
                <a:srgbClr val="0072CE"/>
              </a:buClr>
              <a:buSzPts val="930"/>
              <a:buFont typeface="Arial"/>
              <a:buChar char="▪"/>
            </a:pPr>
            <a:r>
              <a:rPr sz="1500">
                <a:solidFill>
                  <a:srgbClr val="0F1418"/>
                </a:solidFill>
                <a:latin typeface="Arial"/>
              </a:rPr>
              <a:t>Именно поэтому смотрят на обе метрики, а не на одну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29107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1100" b="0">
                <a:solidFill>
                  <a:srgbClr val="6B7280"/>
                </a:solidFill>
                <a:latin typeface="Arial"/>
              </a:rPr>
              <a:t>Занятие 1 · Введение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54335" y="629107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buNone/>
            </a:pPr>
            <a:r>
              <a:rPr sz="1100" b="0">
                <a:solidFill>
                  <a:srgbClr val="6B7280"/>
                </a:solidFill>
                <a:latin typeface="Arial"/>
              </a:rPr>
              <a:t>50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emblem_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31375" y="1371600"/>
            <a:ext cx="1645920" cy="1645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" y="1463040"/>
            <a:ext cx="8229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buNone/>
            </a:pPr>
            <a:r>
              <a:rPr sz="4400" b="1">
                <a:solidFill>
                  <a:srgbClr val="FFFFFF"/>
                </a:solidFill>
                <a:latin typeface="Arial"/>
              </a:rPr>
              <a:t>К следующему занятию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" y="2834640"/>
            <a:ext cx="87782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buNone/>
            </a:pPr>
            <a:r>
              <a:rPr sz="1900" b="0" u="sng">
                <a:solidFill>
                  <a:srgbClr val="4DA3E0"/>
                </a:solidFill>
                <a:latin typeface="Arial"/>
                <a:hlinkClick r:id="rId3"/>
              </a:rPr>
              <a:t>Линейная регрессия, лекция 2 Лектория ФПМИ — обязательно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2916936"/>
            <a:ext cx="114300" cy="1143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15568" y="3182112"/>
            <a:ext cx="8778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1000" b="0">
                <a:solidFill>
                  <a:srgbClr val="6B7280"/>
                </a:solidFill>
                <a:latin typeface="Menlo"/>
              </a:rPr>
              <a:t>https://www.youtube.com/watch?v=GKIkGc2bnmU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" y="3584448"/>
            <a:ext cx="87782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buNone/>
            </a:pPr>
            <a:r>
              <a:rPr sz="1900" b="0" u="sng">
                <a:solidFill>
                  <a:srgbClr val="4DA3E0"/>
                </a:solidFill>
                <a:latin typeface="Arial"/>
                <a:hlinkClick r:id="rId4"/>
              </a:rPr>
              <a:t>Naive Bayes и kNN, лекция 1 — повтор сегодняшнего, по желанию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3666744"/>
            <a:ext cx="114300" cy="1143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15568" y="3931920"/>
            <a:ext cx="8778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1000" b="0">
                <a:solidFill>
                  <a:srgbClr val="6B7280"/>
                </a:solidFill>
                <a:latin typeface="Menlo"/>
              </a:rPr>
              <a:t>https://www.youtube.com/watch?v=8s9073kNXgY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" y="4334256"/>
            <a:ext cx="87782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buNone/>
            </a:pPr>
            <a:r>
              <a:rPr sz="1900" b="0">
                <a:solidFill>
                  <a:srgbClr val="FFFFFF"/>
                </a:solidFill>
                <a:latin typeface="Arial"/>
              </a:rPr>
              <a:t>Завести аккаунт на Hugging Face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4416552"/>
            <a:ext cx="114300" cy="1143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15568" y="4882896"/>
            <a:ext cx="87782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buNone/>
            </a:pPr>
            <a:r>
              <a:rPr sz="1900" b="0">
                <a:solidFill>
                  <a:srgbClr val="FFFFFF"/>
                </a:solidFill>
                <a:latin typeface="Arial"/>
              </a:rPr>
              <a:t>Доделать лабораторную и прислать в чат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" y="4965192"/>
            <a:ext cx="114300" cy="1143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